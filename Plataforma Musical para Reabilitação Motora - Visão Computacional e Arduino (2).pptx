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rittany" charset="1" panose="00000000000000000000"/>
      <p:regular r:id="rId19"/>
    </p:embeddedFont>
    <p:embeddedFont>
      <p:font typeface="Hammersmith One" charset="1" panose="020107030305010605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VAHVOd0mOmQ.mp4" Type="http://schemas.openxmlformats.org/officeDocument/2006/relationships/video"/><Relationship Id="rId4" Target="../media/VAHVOd0mOmQ.mp4" Type="http://schemas.microsoft.com/office/2007/relationships/media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25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03023" y="2828483"/>
            <a:ext cx="11595953" cy="7259499"/>
            <a:chOff x="0" y="0"/>
            <a:chExt cx="15461271" cy="9679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4529" cy="9679332"/>
            </a:xfrm>
            <a:custGeom>
              <a:avLst/>
              <a:gdLst/>
              <a:ahLst/>
              <a:cxnLst/>
              <a:rect r="r" b="b" t="t" l="l"/>
              <a:pathLst>
                <a:path h="9679332" w="4794529">
                  <a:moveTo>
                    <a:pt x="0" y="0"/>
                  </a:moveTo>
                  <a:lnTo>
                    <a:pt x="4794529" y="0"/>
                  </a:lnTo>
                  <a:lnTo>
                    <a:pt x="4794529" y="9679332"/>
                  </a:lnTo>
                  <a:lnTo>
                    <a:pt x="0" y="9679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616506" y="3154834"/>
              <a:ext cx="10844765" cy="3769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557"/>
                </a:lnSpc>
                <a:spcBef>
                  <a:spcPct val="0"/>
                </a:spcBef>
              </a:pPr>
              <a:r>
                <a:rPr lang="en-US" sz="20557">
                  <a:gradFill>
                    <a:gsLst>
                      <a:gs pos="0">
                        <a:srgbClr val="D188A9">
                          <a:alpha val="100000"/>
                        </a:srgbClr>
                      </a:gs>
                      <a:gs pos="100000">
                        <a:srgbClr val="58FFD7">
                          <a:alpha val="100000"/>
                        </a:srgbClr>
                      </a:gs>
                    </a:gsLst>
                    <a:lin ang="0"/>
                  </a:gradFill>
                  <a:latin typeface="Brittany"/>
                  <a:ea typeface="Brittany"/>
                  <a:cs typeface="Brittany"/>
                  <a:sym typeface="Brittany"/>
                </a:rPr>
                <a:t>inestia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34108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4952" y="2554694"/>
            <a:ext cx="395178" cy="395178"/>
          </a:xfrm>
          <a:custGeom>
            <a:avLst/>
            <a:gdLst/>
            <a:ahLst/>
            <a:cxnLst/>
            <a:rect r="r" b="b" t="t" l="l"/>
            <a:pathLst>
              <a:path h="395178" w="395178">
                <a:moveTo>
                  <a:pt x="0" y="0"/>
                </a:moveTo>
                <a:lnTo>
                  <a:pt x="395178" y="0"/>
                </a:lnTo>
                <a:lnTo>
                  <a:pt x="395178" y="395179"/>
                </a:lnTo>
                <a:lnTo>
                  <a:pt x="0" y="3951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1122273">
            <a:off x="15349110" y="8025960"/>
            <a:ext cx="1070371" cy="952630"/>
          </a:xfrm>
          <a:custGeom>
            <a:avLst/>
            <a:gdLst/>
            <a:ahLst/>
            <a:cxnLst/>
            <a:rect r="r" b="b" t="t" l="l"/>
            <a:pathLst>
              <a:path h="952630" w="1070371">
                <a:moveTo>
                  <a:pt x="1070371" y="0"/>
                </a:moveTo>
                <a:lnTo>
                  <a:pt x="0" y="0"/>
                </a:lnTo>
                <a:lnTo>
                  <a:pt x="0" y="952630"/>
                </a:lnTo>
                <a:lnTo>
                  <a:pt x="1070371" y="952630"/>
                </a:lnTo>
                <a:lnTo>
                  <a:pt x="107037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728" y="8502275"/>
            <a:ext cx="1708531" cy="1512050"/>
          </a:xfrm>
          <a:custGeom>
            <a:avLst/>
            <a:gdLst/>
            <a:ahLst/>
            <a:cxnLst/>
            <a:rect r="r" b="b" t="t" l="l"/>
            <a:pathLst>
              <a:path h="1512050" w="1708531">
                <a:moveTo>
                  <a:pt x="0" y="0"/>
                </a:moveTo>
                <a:lnTo>
                  <a:pt x="1708531" y="0"/>
                </a:lnTo>
                <a:lnTo>
                  <a:pt x="1708531" y="1512050"/>
                </a:lnTo>
                <a:lnTo>
                  <a:pt x="0" y="1512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0506" y="1718222"/>
            <a:ext cx="11794223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Plataforma Musical para Reabilitação Motora</a:t>
            </a:r>
          </a:p>
          <a:p>
            <a:pPr algn="l">
              <a:lnSpc>
                <a:spcPts val="5599"/>
              </a:lnSpc>
            </a:pPr>
            <a:r>
              <a:rPr lang="en-US" sz="3999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       </a:t>
            </a:r>
            <a:r>
              <a:rPr lang="en-US" sz="3999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Visão Computacional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82928" y="813720"/>
            <a:ext cx="3101367" cy="38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Thaís Abe e Vitor Lopes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718" y="1116092"/>
            <a:ext cx="13103514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Integrantes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405" y="88763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3"/>
                </a:lnTo>
                <a:lnTo>
                  <a:pt x="0" y="185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28102" y="2679881"/>
            <a:ext cx="4822724" cy="48227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9835" t="-32455" r="0" b="-273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27528" y="2784395"/>
            <a:ext cx="4822724" cy="482272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8844" r="0" b="-5893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2466" y="7971407"/>
            <a:ext cx="6872847" cy="17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trike="noStrike" u="none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Estudante de Informática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Estudante de música (violão erudito)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na EMMSP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Desenvolvedora de projeto na área de 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831138">
            <a:off x="613064" y="6923003"/>
            <a:ext cx="1289281" cy="2897261"/>
          </a:xfrm>
          <a:custGeom>
            <a:avLst/>
            <a:gdLst/>
            <a:ahLst/>
            <a:cxnLst/>
            <a:rect r="r" b="b" t="t" l="l"/>
            <a:pathLst>
              <a:path h="2897261" w="1289281">
                <a:moveTo>
                  <a:pt x="0" y="0"/>
                </a:moveTo>
                <a:lnTo>
                  <a:pt x="1289281" y="0"/>
                </a:lnTo>
                <a:lnTo>
                  <a:pt x="1289281" y="2897261"/>
                </a:lnTo>
                <a:lnTo>
                  <a:pt x="0" y="2897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55570">
            <a:off x="16050041" y="6914336"/>
            <a:ext cx="1718379" cy="1237233"/>
          </a:xfrm>
          <a:custGeom>
            <a:avLst/>
            <a:gdLst/>
            <a:ahLst/>
            <a:cxnLst/>
            <a:rect r="r" b="b" t="t" l="l"/>
            <a:pathLst>
              <a:path h="1237233" w="1718379">
                <a:moveTo>
                  <a:pt x="0" y="0"/>
                </a:moveTo>
                <a:lnTo>
                  <a:pt x="1718379" y="0"/>
                </a:lnTo>
                <a:lnTo>
                  <a:pt x="1718379" y="1237232"/>
                </a:lnTo>
                <a:lnTo>
                  <a:pt x="0" y="1237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0633414" y="7971407"/>
            <a:ext cx="6859898" cy="174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Estudante de Informática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Desenvolvedor full-stack estagiário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3D9681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Desenvolvedor de 3 pré-iniciações científicas na área de 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3237" y="1136272"/>
            <a:ext cx="8161526" cy="140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Problemática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655347"/>
            <a:ext cx="16230600" cy="7216086"/>
            <a:chOff x="0" y="0"/>
            <a:chExt cx="1357225" cy="6034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7225" cy="603419"/>
            </a:xfrm>
            <a:custGeom>
              <a:avLst/>
              <a:gdLst/>
              <a:ahLst/>
              <a:cxnLst/>
              <a:rect r="r" b="b" t="t" l="l"/>
              <a:pathLst>
                <a:path h="603419" w="1357225">
                  <a:moveTo>
                    <a:pt x="33390" y="0"/>
                  </a:moveTo>
                  <a:lnTo>
                    <a:pt x="1323836" y="0"/>
                  </a:lnTo>
                  <a:cubicBezTo>
                    <a:pt x="1342276" y="0"/>
                    <a:pt x="1357225" y="14949"/>
                    <a:pt x="1357225" y="33390"/>
                  </a:cubicBezTo>
                  <a:lnTo>
                    <a:pt x="1357225" y="570029"/>
                  </a:lnTo>
                  <a:cubicBezTo>
                    <a:pt x="1357225" y="578885"/>
                    <a:pt x="1353708" y="587378"/>
                    <a:pt x="1347446" y="593640"/>
                  </a:cubicBezTo>
                  <a:cubicBezTo>
                    <a:pt x="1341184" y="599901"/>
                    <a:pt x="1332691" y="603419"/>
                    <a:pt x="1323836" y="603419"/>
                  </a:cubicBezTo>
                  <a:lnTo>
                    <a:pt x="33390" y="603419"/>
                  </a:lnTo>
                  <a:cubicBezTo>
                    <a:pt x="24534" y="603419"/>
                    <a:pt x="16041" y="599901"/>
                    <a:pt x="9780" y="593640"/>
                  </a:cubicBezTo>
                  <a:cubicBezTo>
                    <a:pt x="3518" y="587378"/>
                    <a:pt x="0" y="578885"/>
                    <a:pt x="0" y="570029"/>
                  </a:cubicBezTo>
                  <a:lnTo>
                    <a:pt x="0" y="33390"/>
                  </a:lnTo>
                  <a:cubicBezTo>
                    <a:pt x="0" y="24534"/>
                    <a:pt x="3518" y="16041"/>
                    <a:pt x="9780" y="9780"/>
                  </a:cubicBezTo>
                  <a:cubicBezTo>
                    <a:pt x="16041" y="3518"/>
                    <a:pt x="24534" y="0"/>
                    <a:pt x="33390" y="0"/>
                  </a:cubicBezTo>
                  <a:close/>
                </a:path>
              </a:pathLst>
            </a:custGeom>
            <a:solidFill>
              <a:srgbClr val="70BF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357225" cy="71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22380" y="111066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3" y="0"/>
                </a:lnTo>
                <a:lnTo>
                  <a:pt x="1853023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3600" y="3039889"/>
            <a:ext cx="14347351" cy="56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42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 AVC nã</a:t>
            </a:r>
            <a:r>
              <a:rPr lang="en-US" sz="42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 termina quando o paciente sai do hospital.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0324" y="4695501"/>
            <a:ext cx="14347351" cy="104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00"/>
              </a:lnSpc>
              <a:spcBef>
                <a:spcPct val="0"/>
              </a:spcBef>
            </a:pPr>
            <a:r>
              <a:rPr lang="en-US" sz="79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 caso a cada 2 minutos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596" y="6673193"/>
            <a:ext cx="3350782" cy="124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02"/>
              </a:lnSpc>
              <a:spcBef>
                <a:spcPct val="0"/>
              </a:spcBef>
            </a:pPr>
            <a:r>
              <a:rPr lang="en-US" sz="9302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AVC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4202501" y="7219854"/>
            <a:ext cx="1111491" cy="0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5041978" y="6644968"/>
            <a:ext cx="5090467" cy="16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24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Perda de movimentos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04218" y="6870208"/>
            <a:ext cx="6752737" cy="83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24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Reabilitação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132445" y="7219854"/>
            <a:ext cx="1111491" cy="0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3321446" y="5743899"/>
            <a:ext cx="11758434" cy="0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488014" y="9086121"/>
            <a:ext cx="6385029" cy="70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FONTE: </a:t>
            </a:r>
            <a:r>
              <a:rPr lang="en-US" sz="1400" strike="noStrike" u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MIRANDA, Maramélia. Números do AVC no Brasil e no mundo. Sociedade Brasileira de AVC (SBAVC), 2026. Disponível em: https://avc.org.br/sobre-a-sbavc/numeros-do-avc-no-brasil-e-no-mundo/. Acesso em: 25 abr. 2026.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666949"/>
            <a:ext cx="16230600" cy="8204483"/>
            <a:chOff x="0" y="0"/>
            <a:chExt cx="1357225" cy="6860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7225" cy="686070"/>
            </a:xfrm>
            <a:custGeom>
              <a:avLst/>
              <a:gdLst/>
              <a:ahLst/>
              <a:cxnLst/>
              <a:rect r="r" b="b" t="t" l="l"/>
              <a:pathLst>
                <a:path h="686070" w="1357225">
                  <a:moveTo>
                    <a:pt x="33390" y="0"/>
                  </a:moveTo>
                  <a:lnTo>
                    <a:pt x="1323836" y="0"/>
                  </a:lnTo>
                  <a:cubicBezTo>
                    <a:pt x="1342276" y="0"/>
                    <a:pt x="1357225" y="14949"/>
                    <a:pt x="1357225" y="33390"/>
                  </a:cubicBezTo>
                  <a:lnTo>
                    <a:pt x="1357225" y="652681"/>
                  </a:lnTo>
                  <a:cubicBezTo>
                    <a:pt x="1357225" y="661536"/>
                    <a:pt x="1353708" y="670029"/>
                    <a:pt x="1347446" y="676291"/>
                  </a:cubicBezTo>
                  <a:cubicBezTo>
                    <a:pt x="1341184" y="682553"/>
                    <a:pt x="1332691" y="686070"/>
                    <a:pt x="1323836" y="686070"/>
                  </a:cubicBezTo>
                  <a:lnTo>
                    <a:pt x="33390" y="686070"/>
                  </a:lnTo>
                  <a:cubicBezTo>
                    <a:pt x="24534" y="686070"/>
                    <a:pt x="16041" y="682553"/>
                    <a:pt x="9780" y="676291"/>
                  </a:cubicBezTo>
                  <a:cubicBezTo>
                    <a:pt x="3518" y="670029"/>
                    <a:pt x="0" y="661536"/>
                    <a:pt x="0" y="652681"/>
                  </a:cubicBezTo>
                  <a:lnTo>
                    <a:pt x="0" y="33390"/>
                  </a:lnTo>
                  <a:cubicBezTo>
                    <a:pt x="0" y="24534"/>
                    <a:pt x="3518" y="16041"/>
                    <a:pt x="9780" y="9780"/>
                  </a:cubicBezTo>
                  <a:cubicBezTo>
                    <a:pt x="16041" y="3518"/>
                    <a:pt x="24534" y="0"/>
                    <a:pt x="33390" y="0"/>
                  </a:cubicBezTo>
                  <a:close/>
                </a:path>
              </a:pathLst>
            </a:custGeom>
            <a:solidFill>
              <a:srgbClr val="70BF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357225" cy="800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04165" y="5769191"/>
            <a:ext cx="4190808" cy="803793"/>
          </a:xfrm>
          <a:custGeom>
            <a:avLst/>
            <a:gdLst/>
            <a:ahLst/>
            <a:cxnLst/>
            <a:rect r="r" b="b" t="t" l="l"/>
            <a:pathLst>
              <a:path h="803793" w="4190808">
                <a:moveTo>
                  <a:pt x="0" y="0"/>
                </a:moveTo>
                <a:lnTo>
                  <a:pt x="4190809" y="0"/>
                </a:lnTo>
                <a:lnTo>
                  <a:pt x="4190809" y="803792"/>
                </a:lnTo>
                <a:lnTo>
                  <a:pt x="0" y="80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8472" t="0" r="-5660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900499" y="5769191"/>
            <a:ext cx="4190808" cy="803793"/>
          </a:xfrm>
          <a:custGeom>
            <a:avLst/>
            <a:gdLst/>
            <a:ahLst/>
            <a:cxnLst/>
            <a:rect r="r" b="b" t="t" l="l"/>
            <a:pathLst>
              <a:path h="803793" w="4190808">
                <a:moveTo>
                  <a:pt x="0" y="0"/>
                </a:moveTo>
                <a:lnTo>
                  <a:pt x="4190808" y="0"/>
                </a:lnTo>
                <a:lnTo>
                  <a:pt x="4190808" y="803792"/>
                </a:lnTo>
                <a:lnTo>
                  <a:pt x="0" y="80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8472" t="0" r="-5660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321555" y="5769191"/>
            <a:ext cx="3920491" cy="803793"/>
          </a:xfrm>
          <a:custGeom>
            <a:avLst/>
            <a:gdLst/>
            <a:ahLst/>
            <a:cxnLst/>
            <a:rect r="r" b="b" t="t" l="l"/>
            <a:pathLst>
              <a:path h="803793" w="3920491">
                <a:moveTo>
                  <a:pt x="0" y="0"/>
                </a:moveTo>
                <a:lnTo>
                  <a:pt x="3920491" y="0"/>
                </a:lnTo>
                <a:lnTo>
                  <a:pt x="3920491" y="803792"/>
                </a:lnTo>
                <a:lnTo>
                  <a:pt x="0" y="80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8020" t="0" r="-6740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2604" y="5769191"/>
            <a:ext cx="3076037" cy="803793"/>
          </a:xfrm>
          <a:custGeom>
            <a:avLst/>
            <a:gdLst/>
            <a:ahLst/>
            <a:cxnLst/>
            <a:rect r="r" b="b" t="t" l="l"/>
            <a:pathLst>
              <a:path h="803793" w="3076037">
                <a:moveTo>
                  <a:pt x="0" y="0"/>
                </a:moveTo>
                <a:lnTo>
                  <a:pt x="3076037" y="0"/>
                </a:lnTo>
                <a:lnTo>
                  <a:pt x="3076037" y="803792"/>
                </a:lnTo>
                <a:lnTo>
                  <a:pt x="0" y="80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4896" t="0" r="-7711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2776675" y="3130977"/>
            <a:ext cx="3852576" cy="289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7"/>
              </a:lnSpc>
            </a:pPr>
            <a:r>
              <a:rPr lang="en-US" sz="5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2,23</a:t>
            </a:r>
          </a:p>
          <a:p>
            <a:pPr algn="ctr">
              <a:lnSpc>
                <a:spcPts val="5657"/>
              </a:lnSpc>
            </a:pPr>
            <a:r>
              <a:rPr lang="en-US" sz="5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milhões</a:t>
            </a:r>
          </a:p>
          <a:p>
            <a:pPr algn="ctr">
              <a:lnSpc>
                <a:spcPts val="3657"/>
              </a:lnSpc>
            </a:pPr>
            <a:r>
              <a:rPr lang="en-US" sz="3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 brasileiros já sofreram AVC</a:t>
            </a:r>
          </a:p>
          <a:p>
            <a:pPr algn="ctr" marL="0" indent="0" lvl="0">
              <a:lnSpc>
                <a:spcPts val="425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433110" y="3388152"/>
            <a:ext cx="3745844" cy="264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7"/>
              </a:lnSpc>
            </a:pPr>
            <a:r>
              <a:rPr lang="en-US" sz="5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568 </a:t>
            </a:r>
            <a:r>
              <a:rPr lang="en-US" sz="5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mil</a:t>
            </a:r>
          </a:p>
          <a:p>
            <a:pPr algn="ctr">
              <a:lnSpc>
                <a:spcPts val="3657"/>
              </a:lnSpc>
            </a:pPr>
            <a:r>
              <a:rPr lang="en-US" sz="365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vivem com incapacidade grave</a:t>
            </a:r>
          </a:p>
          <a:p>
            <a:pPr algn="ctr" marL="0" indent="0" lvl="0">
              <a:lnSpc>
                <a:spcPts val="425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512332" y="3378627"/>
            <a:ext cx="4252079" cy="20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566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13%</a:t>
            </a:r>
          </a:p>
          <a:p>
            <a:pPr algn="ctr" marL="0" indent="0" lvl="0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per</a:t>
            </a: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manec</a:t>
            </a: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em com dependência moderada a grave.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3728" y="7021286"/>
            <a:ext cx="3852576" cy="94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Impactos cognitivos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45429" y="7021286"/>
            <a:ext cx="3852576" cy="94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Limitações motoras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45160" y="7021286"/>
            <a:ext cx="3852576" cy="94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Dificuldade de acesso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23883" y="9277350"/>
            <a:ext cx="691872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FONTE: </a:t>
            </a:r>
            <a:r>
              <a:rPr lang="en-US" sz="1400" strike="noStrike" u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BRASIL. Ministério da Saúde. Acidente vascular cerebral. Biblioteca Virtual em Saúde. Brasília, DF. 2016. Disponível em: https://bvsms.saude.gov.br/acidente-vascular-cerebral/. Acesso em: 25 abr. 2026.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3237" y="1136127"/>
            <a:ext cx="8161526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Justificativa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833582"/>
            <a:ext cx="5666088" cy="6894612"/>
            <a:chOff x="0" y="0"/>
            <a:chExt cx="473806" cy="57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3806" cy="576537"/>
            </a:xfrm>
            <a:custGeom>
              <a:avLst/>
              <a:gdLst/>
              <a:ahLst/>
              <a:cxnLst/>
              <a:rect r="r" b="b" t="t" l="l"/>
              <a:pathLst>
                <a:path h="576537" w="473806">
                  <a:moveTo>
                    <a:pt x="95645" y="0"/>
                  </a:moveTo>
                  <a:lnTo>
                    <a:pt x="378161" y="0"/>
                  </a:lnTo>
                  <a:cubicBezTo>
                    <a:pt x="430984" y="0"/>
                    <a:pt x="473806" y="42822"/>
                    <a:pt x="473806" y="95645"/>
                  </a:cubicBezTo>
                  <a:lnTo>
                    <a:pt x="473806" y="480892"/>
                  </a:lnTo>
                  <a:cubicBezTo>
                    <a:pt x="473806" y="533715"/>
                    <a:pt x="430984" y="576537"/>
                    <a:pt x="378161" y="576537"/>
                  </a:cubicBezTo>
                  <a:lnTo>
                    <a:pt x="95645" y="576537"/>
                  </a:lnTo>
                  <a:cubicBezTo>
                    <a:pt x="42822" y="576537"/>
                    <a:pt x="0" y="533715"/>
                    <a:pt x="0" y="480892"/>
                  </a:cubicBezTo>
                  <a:lnTo>
                    <a:pt x="0" y="95645"/>
                  </a:lnTo>
                  <a:cubicBezTo>
                    <a:pt x="0" y="42822"/>
                    <a:pt x="42822" y="0"/>
                    <a:pt x="95645" y="0"/>
                  </a:cubicBezTo>
                  <a:close/>
                </a:path>
              </a:pathLst>
            </a:custGeom>
            <a:solidFill>
              <a:srgbClr val="CB8EA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473806" cy="690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22380" y="111066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3" y="0"/>
                </a:lnTo>
                <a:lnTo>
                  <a:pt x="1853023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055582" y="2649609"/>
            <a:ext cx="5147584" cy="5817416"/>
            <a:chOff x="0" y="0"/>
            <a:chExt cx="430448" cy="486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448" cy="486460"/>
            </a:xfrm>
            <a:custGeom>
              <a:avLst/>
              <a:gdLst/>
              <a:ahLst/>
              <a:cxnLst/>
              <a:rect r="r" b="b" t="t" l="l"/>
              <a:pathLst>
                <a:path h="486460" w="430448">
                  <a:moveTo>
                    <a:pt x="105279" y="0"/>
                  </a:moveTo>
                  <a:lnTo>
                    <a:pt x="325169" y="0"/>
                  </a:lnTo>
                  <a:cubicBezTo>
                    <a:pt x="353091" y="0"/>
                    <a:pt x="379869" y="11092"/>
                    <a:pt x="399613" y="30836"/>
                  </a:cubicBezTo>
                  <a:cubicBezTo>
                    <a:pt x="419356" y="50579"/>
                    <a:pt x="430448" y="77358"/>
                    <a:pt x="430448" y="105279"/>
                  </a:cubicBezTo>
                  <a:lnTo>
                    <a:pt x="430448" y="381181"/>
                  </a:lnTo>
                  <a:cubicBezTo>
                    <a:pt x="430448" y="409103"/>
                    <a:pt x="419356" y="435881"/>
                    <a:pt x="399613" y="455625"/>
                  </a:cubicBezTo>
                  <a:cubicBezTo>
                    <a:pt x="379869" y="475369"/>
                    <a:pt x="353091" y="486460"/>
                    <a:pt x="325169" y="486460"/>
                  </a:cubicBezTo>
                  <a:lnTo>
                    <a:pt x="105279" y="486460"/>
                  </a:lnTo>
                  <a:cubicBezTo>
                    <a:pt x="77358" y="486460"/>
                    <a:pt x="50579" y="475369"/>
                    <a:pt x="30836" y="455625"/>
                  </a:cubicBezTo>
                  <a:cubicBezTo>
                    <a:pt x="11092" y="435881"/>
                    <a:pt x="0" y="409103"/>
                    <a:pt x="0" y="381181"/>
                  </a:cubicBezTo>
                  <a:lnTo>
                    <a:pt x="0" y="105279"/>
                  </a:lnTo>
                  <a:cubicBezTo>
                    <a:pt x="0" y="77358"/>
                    <a:pt x="11092" y="50579"/>
                    <a:pt x="30836" y="30836"/>
                  </a:cubicBezTo>
                  <a:cubicBezTo>
                    <a:pt x="50579" y="11092"/>
                    <a:pt x="77358" y="0"/>
                    <a:pt x="105279" y="0"/>
                  </a:cubicBezTo>
                  <a:close/>
                </a:path>
              </a:pathLst>
            </a:custGeom>
            <a:solidFill>
              <a:srgbClr val="CB8E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430448" cy="60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74641" y="2833582"/>
            <a:ext cx="4684659" cy="6894612"/>
            <a:chOff x="0" y="0"/>
            <a:chExt cx="391738" cy="5765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1738" cy="576537"/>
            </a:xfrm>
            <a:custGeom>
              <a:avLst/>
              <a:gdLst/>
              <a:ahLst/>
              <a:cxnLst/>
              <a:rect r="r" b="b" t="t" l="l"/>
              <a:pathLst>
                <a:path h="576537" w="391738">
                  <a:moveTo>
                    <a:pt x="115683" y="0"/>
                  </a:moveTo>
                  <a:lnTo>
                    <a:pt x="276055" y="0"/>
                  </a:lnTo>
                  <a:cubicBezTo>
                    <a:pt x="339945" y="0"/>
                    <a:pt x="391738" y="51793"/>
                    <a:pt x="391738" y="115683"/>
                  </a:cubicBezTo>
                  <a:lnTo>
                    <a:pt x="391738" y="460854"/>
                  </a:lnTo>
                  <a:cubicBezTo>
                    <a:pt x="391738" y="524744"/>
                    <a:pt x="339945" y="576537"/>
                    <a:pt x="276055" y="576537"/>
                  </a:cubicBezTo>
                  <a:lnTo>
                    <a:pt x="115683" y="576537"/>
                  </a:lnTo>
                  <a:cubicBezTo>
                    <a:pt x="85002" y="576537"/>
                    <a:pt x="55577" y="564349"/>
                    <a:pt x="33883" y="542654"/>
                  </a:cubicBezTo>
                  <a:cubicBezTo>
                    <a:pt x="12188" y="520960"/>
                    <a:pt x="0" y="491535"/>
                    <a:pt x="0" y="460854"/>
                  </a:cubicBezTo>
                  <a:lnTo>
                    <a:pt x="0" y="115683"/>
                  </a:lnTo>
                  <a:cubicBezTo>
                    <a:pt x="0" y="51793"/>
                    <a:pt x="51793" y="0"/>
                    <a:pt x="115683" y="0"/>
                  </a:cubicBezTo>
                  <a:close/>
                </a:path>
              </a:pathLst>
            </a:custGeom>
            <a:solidFill>
              <a:srgbClr val="CB8EA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391738" cy="690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55010" y="3938768"/>
            <a:ext cx="5638727" cy="741844"/>
          </a:xfrm>
          <a:custGeom>
            <a:avLst/>
            <a:gdLst/>
            <a:ahLst/>
            <a:cxnLst/>
            <a:rect r="r" b="b" t="t" l="l"/>
            <a:pathLst>
              <a:path h="741844" w="5638727">
                <a:moveTo>
                  <a:pt x="0" y="0"/>
                </a:moveTo>
                <a:lnTo>
                  <a:pt x="5638728" y="0"/>
                </a:lnTo>
                <a:lnTo>
                  <a:pt x="5638728" y="741843"/>
                </a:lnTo>
                <a:lnTo>
                  <a:pt x="0" y="741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42380" y="5973792"/>
            <a:ext cx="5638727" cy="741844"/>
          </a:xfrm>
          <a:custGeom>
            <a:avLst/>
            <a:gdLst/>
            <a:ahLst/>
            <a:cxnLst/>
            <a:rect r="r" b="b" t="t" l="l"/>
            <a:pathLst>
              <a:path h="741844" w="5638727">
                <a:moveTo>
                  <a:pt x="0" y="0"/>
                </a:moveTo>
                <a:lnTo>
                  <a:pt x="5638728" y="0"/>
                </a:lnTo>
                <a:lnTo>
                  <a:pt x="5638728" y="741843"/>
                </a:lnTo>
                <a:lnTo>
                  <a:pt x="0" y="741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56061" y="7608638"/>
            <a:ext cx="5638727" cy="741844"/>
          </a:xfrm>
          <a:custGeom>
            <a:avLst/>
            <a:gdLst/>
            <a:ahLst/>
            <a:cxnLst/>
            <a:rect r="r" b="b" t="t" l="l"/>
            <a:pathLst>
              <a:path h="741844" w="5638727">
                <a:moveTo>
                  <a:pt x="0" y="0"/>
                </a:moveTo>
                <a:lnTo>
                  <a:pt x="5638727" y="0"/>
                </a:lnTo>
                <a:lnTo>
                  <a:pt x="5638727" y="741844"/>
                </a:lnTo>
                <a:lnTo>
                  <a:pt x="0" y="7418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7464723" y="3362025"/>
            <a:ext cx="4266074" cy="42660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51809" t="0" r="-51809" b="0"/>
              </a:stretch>
            </a:blipFill>
            <a:ln w="95250" cap="sq">
              <a:solidFill>
                <a:srgbClr val="00BDB3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3050111" y="3729115"/>
            <a:ext cx="3733719" cy="3765224"/>
          </a:xfrm>
          <a:custGeom>
            <a:avLst/>
            <a:gdLst/>
            <a:ahLst/>
            <a:cxnLst/>
            <a:rect r="r" b="b" t="t" l="l"/>
            <a:pathLst>
              <a:path h="3765224" w="3733719">
                <a:moveTo>
                  <a:pt x="0" y="0"/>
                </a:moveTo>
                <a:lnTo>
                  <a:pt x="3733719" y="0"/>
                </a:lnTo>
                <a:lnTo>
                  <a:pt x="3733719" y="3765223"/>
                </a:lnTo>
                <a:lnTo>
                  <a:pt x="0" y="3765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003" t="0" r="-20070" b="0"/>
            </a:stretch>
          </a:blipFill>
          <a:ln w="85725" cap="rnd">
            <a:solidFill>
              <a:srgbClr val="00ADA7"/>
            </a:solidFill>
            <a:prstDash val="solid"/>
            <a:round/>
          </a:ln>
        </p:spPr>
      </p:sp>
      <p:sp>
        <p:nvSpPr>
          <p:cNvPr name="TextBox 20" id="20"/>
          <p:cNvSpPr txBox="true"/>
          <p:nvPr/>
        </p:nvSpPr>
        <p:spPr>
          <a:xfrm rot="0">
            <a:off x="2139605" y="3236806"/>
            <a:ext cx="3582961" cy="63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7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Reabilitação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5514" y="4966361"/>
            <a:ext cx="4652460" cy="94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Interação durante os m</a:t>
            </a: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ovimentos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8144" y="7010816"/>
            <a:ext cx="4652460" cy="48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</a:t>
            </a: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ovimento + música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5514" y="8774778"/>
            <a:ext cx="4652460" cy="48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Exer</a:t>
            </a:r>
            <a:r>
              <a:rPr lang="en-US" sz="36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cício terapêutico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01082" y="3227281"/>
            <a:ext cx="4031777" cy="5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9"/>
              </a:lnSpc>
              <a:spcBef>
                <a:spcPct val="0"/>
              </a:spcBef>
            </a:pPr>
            <a:r>
              <a:rPr lang="en-US" sz="385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Luva LEB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74628" y="8409874"/>
            <a:ext cx="3684685" cy="89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Tecnologia assistiva aplicada à música.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4691" y="7580063"/>
            <a:ext cx="3809139" cy="61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77647"/>
                  </a:srgbClr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Luva LEB utilizada pelo maestro João Carlos Martins.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842920" y="8603106"/>
            <a:ext cx="5556339" cy="1443738"/>
            <a:chOff x="0" y="0"/>
            <a:chExt cx="464629" cy="1207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4629" cy="120727"/>
            </a:xfrm>
            <a:custGeom>
              <a:avLst/>
              <a:gdLst/>
              <a:ahLst/>
              <a:cxnLst/>
              <a:rect r="r" b="b" t="t" l="l"/>
              <a:pathLst>
                <a:path h="120727" w="464629">
                  <a:moveTo>
                    <a:pt x="60364" y="0"/>
                  </a:moveTo>
                  <a:lnTo>
                    <a:pt x="404265" y="0"/>
                  </a:lnTo>
                  <a:cubicBezTo>
                    <a:pt x="437603" y="0"/>
                    <a:pt x="464629" y="27026"/>
                    <a:pt x="464629" y="60364"/>
                  </a:cubicBezTo>
                  <a:lnTo>
                    <a:pt x="464629" y="60364"/>
                  </a:lnTo>
                  <a:cubicBezTo>
                    <a:pt x="464629" y="76373"/>
                    <a:pt x="458269" y="91727"/>
                    <a:pt x="446949" y="103047"/>
                  </a:cubicBezTo>
                  <a:cubicBezTo>
                    <a:pt x="435628" y="114368"/>
                    <a:pt x="420275" y="120727"/>
                    <a:pt x="404265" y="120727"/>
                  </a:cubicBezTo>
                  <a:lnTo>
                    <a:pt x="60364" y="120727"/>
                  </a:lnTo>
                  <a:cubicBezTo>
                    <a:pt x="27026" y="120727"/>
                    <a:pt x="0" y="93702"/>
                    <a:pt x="0" y="60364"/>
                  </a:cubicBezTo>
                  <a:lnTo>
                    <a:pt x="0" y="60364"/>
                  </a:lnTo>
                  <a:cubicBezTo>
                    <a:pt x="0" y="27026"/>
                    <a:pt x="27026" y="0"/>
                    <a:pt x="60364" y="0"/>
                  </a:cubicBezTo>
                  <a:close/>
                </a:path>
              </a:pathLst>
            </a:custGeom>
            <a:solidFill>
              <a:srgbClr val="CB8EA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14300"/>
              <a:ext cx="464629" cy="235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178008" y="8835272"/>
            <a:ext cx="4913413" cy="10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6"/>
              </a:lnSpc>
            </a:pPr>
            <a:r>
              <a:rPr lang="en-US" sz="14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KOTSCHO, Ricardo. João Carlos Martins volta ao piano após um ano graças a luva biônica. Folha de S.Paulo, São Paulo, 19 jan. 2020. Disponível em: https://www1.folha.uol.com.br/cotidiano/2020/01/joao-carlos-martins-volta-ao-piano-apos-um-ano-gracas-a-luva-bionica.shtml. Acesso em: 16 set. 2026.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441458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3303299"/>
            <a:ext cx="5878887" cy="3680402"/>
            <a:chOff x="0" y="0"/>
            <a:chExt cx="7838516" cy="4907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0718" cy="4907203"/>
            </a:xfrm>
            <a:custGeom>
              <a:avLst/>
              <a:gdLst/>
              <a:ahLst/>
              <a:cxnLst/>
              <a:rect r="r" b="b" t="t" l="l"/>
              <a:pathLst>
                <a:path h="4907203" w="2430718">
                  <a:moveTo>
                    <a:pt x="0" y="0"/>
                  </a:moveTo>
                  <a:lnTo>
                    <a:pt x="2430718" y="0"/>
                  </a:lnTo>
                  <a:lnTo>
                    <a:pt x="2430718" y="4907203"/>
                  </a:lnTo>
                  <a:lnTo>
                    <a:pt x="0" y="490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340464" y="1596638"/>
              <a:ext cx="5498051" cy="191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21"/>
                </a:lnSpc>
                <a:spcBef>
                  <a:spcPct val="0"/>
                </a:spcBef>
              </a:pPr>
              <a:r>
                <a:rPr lang="en-US" sz="10421">
                  <a:gradFill>
                    <a:gsLst>
                      <a:gs pos="0">
                        <a:srgbClr val="D188A9">
                          <a:alpha val="100000"/>
                        </a:srgbClr>
                      </a:gs>
                      <a:gs pos="100000">
                        <a:srgbClr val="58FFD7">
                          <a:alpha val="100000"/>
                        </a:srgbClr>
                      </a:gs>
                    </a:gsLst>
                    <a:lin ang="0"/>
                  </a:gradFill>
                  <a:latin typeface="Brittany"/>
                  <a:ea typeface="Brittany"/>
                  <a:cs typeface="Brittany"/>
                  <a:sym typeface="Brittany"/>
                </a:rPr>
                <a:t>inestia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756857" y="2891981"/>
            <a:ext cx="6196163" cy="5232393"/>
          </a:xfrm>
          <a:custGeom>
            <a:avLst/>
            <a:gdLst/>
            <a:ahLst/>
            <a:cxnLst/>
            <a:rect r="r" b="b" t="t" l="l"/>
            <a:pathLst>
              <a:path h="5232393" w="6196163">
                <a:moveTo>
                  <a:pt x="0" y="0"/>
                </a:moveTo>
                <a:lnTo>
                  <a:pt x="6196163" y="0"/>
                </a:lnTo>
                <a:lnTo>
                  <a:pt x="6196163" y="5232392"/>
                </a:lnTo>
                <a:lnTo>
                  <a:pt x="0" y="5232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081" t="0" r="-33243" b="0"/>
            </a:stretch>
          </a:blipFill>
          <a:ln w="38100" cap="rnd">
            <a:solidFill>
              <a:srgbClr val="CD96C3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-255629">
            <a:off x="13601339" y="8973719"/>
            <a:ext cx="4660214" cy="1141752"/>
          </a:xfrm>
          <a:custGeom>
            <a:avLst/>
            <a:gdLst/>
            <a:ahLst/>
            <a:cxnLst/>
            <a:rect r="r" b="b" t="t" l="l"/>
            <a:pathLst>
              <a:path h="1141752" w="4660214">
                <a:moveTo>
                  <a:pt x="0" y="0"/>
                </a:moveTo>
                <a:lnTo>
                  <a:pt x="4660214" y="0"/>
                </a:lnTo>
                <a:lnTo>
                  <a:pt x="4660214" y="1141753"/>
                </a:lnTo>
                <a:lnTo>
                  <a:pt x="0" y="1141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087463" y="1434517"/>
            <a:ext cx="6157374" cy="1761371"/>
            <a:chOff x="0" y="0"/>
            <a:chExt cx="8209832" cy="23484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209832" cy="2348494"/>
              <a:chOff x="0" y="0"/>
              <a:chExt cx="514888" cy="1472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14888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514888">
                    <a:moveTo>
                      <a:pt x="73644" y="0"/>
                    </a:moveTo>
                    <a:lnTo>
                      <a:pt x="441244" y="0"/>
                    </a:lnTo>
                    <a:cubicBezTo>
                      <a:pt x="460776" y="0"/>
                      <a:pt x="479507" y="7759"/>
                      <a:pt x="493318" y="21570"/>
                    </a:cubicBezTo>
                    <a:cubicBezTo>
                      <a:pt x="507129" y="35381"/>
                      <a:pt x="514888" y="54113"/>
                      <a:pt x="514888" y="73644"/>
                    </a:cubicBezTo>
                    <a:lnTo>
                      <a:pt x="514888" y="73644"/>
                    </a:lnTo>
                    <a:cubicBezTo>
                      <a:pt x="514888" y="93176"/>
                      <a:pt x="507129" y="111907"/>
                      <a:pt x="493318" y="125718"/>
                    </a:cubicBezTo>
                    <a:cubicBezTo>
                      <a:pt x="479507" y="139529"/>
                      <a:pt x="460776" y="147288"/>
                      <a:pt x="441244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514888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92660"/>
              <a:ext cx="8209832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Ensino musical e reabilitação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7463" y="3575741"/>
            <a:ext cx="6157374" cy="1552582"/>
            <a:chOff x="0" y="0"/>
            <a:chExt cx="8209832" cy="207010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8209832" cy="2070109"/>
              <a:chOff x="0" y="0"/>
              <a:chExt cx="514888" cy="1298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14888" cy="129829"/>
              </a:xfrm>
              <a:custGeom>
                <a:avLst/>
                <a:gdLst/>
                <a:ahLst/>
                <a:cxnLst/>
                <a:rect r="r" b="b" t="t" l="l"/>
                <a:pathLst>
                  <a:path h="129829" w="514888">
                    <a:moveTo>
                      <a:pt x="64915" y="0"/>
                    </a:moveTo>
                    <a:lnTo>
                      <a:pt x="449974" y="0"/>
                    </a:lnTo>
                    <a:cubicBezTo>
                      <a:pt x="467190" y="0"/>
                      <a:pt x="483701" y="6839"/>
                      <a:pt x="495875" y="19013"/>
                    </a:cubicBezTo>
                    <a:cubicBezTo>
                      <a:pt x="508049" y="31187"/>
                      <a:pt x="514888" y="47698"/>
                      <a:pt x="514888" y="64915"/>
                    </a:cubicBezTo>
                    <a:lnTo>
                      <a:pt x="514888" y="64915"/>
                    </a:lnTo>
                    <a:cubicBezTo>
                      <a:pt x="514888" y="100766"/>
                      <a:pt x="485825" y="129829"/>
                      <a:pt x="449974" y="129829"/>
                    </a:cubicBezTo>
                    <a:lnTo>
                      <a:pt x="64915" y="129829"/>
                    </a:lnTo>
                    <a:cubicBezTo>
                      <a:pt x="29063" y="129829"/>
                      <a:pt x="0" y="100766"/>
                      <a:pt x="0" y="64915"/>
                    </a:cubicBezTo>
                    <a:lnTo>
                      <a:pt x="0" y="64915"/>
                    </a:lnTo>
                    <a:cubicBezTo>
                      <a:pt x="0" y="29063"/>
                      <a:pt x="29063" y="0"/>
                      <a:pt x="64915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514888" cy="186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548812"/>
              <a:ext cx="8209832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Eixo motor-cognitivo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58008" y="5509323"/>
            <a:ext cx="6286829" cy="1549022"/>
            <a:chOff x="0" y="0"/>
            <a:chExt cx="8382439" cy="206536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72606" y="0"/>
              <a:ext cx="8209832" cy="2065362"/>
              <a:chOff x="0" y="0"/>
              <a:chExt cx="514888" cy="12953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14888" cy="129531"/>
              </a:xfrm>
              <a:custGeom>
                <a:avLst/>
                <a:gdLst/>
                <a:ahLst/>
                <a:cxnLst/>
                <a:rect r="r" b="b" t="t" l="l"/>
                <a:pathLst>
                  <a:path h="129531" w="514888">
                    <a:moveTo>
                      <a:pt x="64766" y="0"/>
                    </a:moveTo>
                    <a:lnTo>
                      <a:pt x="450123" y="0"/>
                    </a:lnTo>
                    <a:cubicBezTo>
                      <a:pt x="467299" y="0"/>
                      <a:pt x="483773" y="6824"/>
                      <a:pt x="495919" y="18969"/>
                    </a:cubicBezTo>
                    <a:cubicBezTo>
                      <a:pt x="508065" y="31115"/>
                      <a:pt x="514888" y="47589"/>
                      <a:pt x="514888" y="64766"/>
                    </a:cubicBezTo>
                    <a:lnTo>
                      <a:pt x="514888" y="64766"/>
                    </a:lnTo>
                    <a:cubicBezTo>
                      <a:pt x="514888" y="81943"/>
                      <a:pt x="508065" y="98416"/>
                      <a:pt x="495919" y="110562"/>
                    </a:cubicBezTo>
                    <a:cubicBezTo>
                      <a:pt x="483773" y="122708"/>
                      <a:pt x="467299" y="129531"/>
                      <a:pt x="450123" y="129531"/>
                    </a:cubicBezTo>
                    <a:lnTo>
                      <a:pt x="64766" y="129531"/>
                    </a:lnTo>
                    <a:cubicBezTo>
                      <a:pt x="47589" y="129531"/>
                      <a:pt x="31115" y="122708"/>
                      <a:pt x="18969" y="110562"/>
                    </a:cubicBezTo>
                    <a:cubicBezTo>
                      <a:pt x="6824" y="98416"/>
                      <a:pt x="0" y="81943"/>
                      <a:pt x="0" y="64766"/>
                    </a:cubicBezTo>
                    <a:lnTo>
                      <a:pt x="0" y="64766"/>
                    </a:lnTo>
                    <a:cubicBezTo>
                      <a:pt x="0" y="47589"/>
                      <a:pt x="6824" y="31115"/>
                      <a:pt x="18969" y="18969"/>
                    </a:cubicBezTo>
                    <a:cubicBezTo>
                      <a:pt x="31115" y="6824"/>
                      <a:pt x="47589" y="0"/>
                      <a:pt x="64766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14888" cy="1866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50547"/>
              <a:ext cx="8209832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U</a:t>
              </a: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so de visão computacional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04565" y="7439345"/>
            <a:ext cx="6157374" cy="1598523"/>
            <a:chOff x="0" y="0"/>
            <a:chExt cx="514888" cy="133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888" cy="133671"/>
            </a:xfrm>
            <a:custGeom>
              <a:avLst/>
              <a:gdLst/>
              <a:ahLst/>
              <a:cxnLst/>
              <a:rect r="r" b="b" t="t" l="l"/>
              <a:pathLst>
                <a:path h="133671" w="514888">
                  <a:moveTo>
                    <a:pt x="66835" y="0"/>
                  </a:moveTo>
                  <a:lnTo>
                    <a:pt x="448053" y="0"/>
                  </a:lnTo>
                  <a:cubicBezTo>
                    <a:pt x="465779" y="0"/>
                    <a:pt x="482779" y="7042"/>
                    <a:pt x="495313" y="19576"/>
                  </a:cubicBezTo>
                  <a:cubicBezTo>
                    <a:pt x="507847" y="32110"/>
                    <a:pt x="514888" y="49110"/>
                    <a:pt x="514888" y="66835"/>
                  </a:cubicBezTo>
                  <a:lnTo>
                    <a:pt x="514888" y="66835"/>
                  </a:lnTo>
                  <a:cubicBezTo>
                    <a:pt x="514888" y="103748"/>
                    <a:pt x="484965" y="133671"/>
                    <a:pt x="448053" y="133671"/>
                  </a:cubicBezTo>
                  <a:lnTo>
                    <a:pt x="66835" y="133671"/>
                  </a:lnTo>
                  <a:cubicBezTo>
                    <a:pt x="29923" y="133671"/>
                    <a:pt x="0" y="103748"/>
                    <a:pt x="0" y="66835"/>
                  </a:cubicBezTo>
                  <a:lnTo>
                    <a:pt x="0" y="66835"/>
                  </a:lnTo>
                  <a:cubicBezTo>
                    <a:pt x="0" y="29923"/>
                    <a:pt x="29923" y="0"/>
                    <a:pt x="66835" y="0"/>
                  </a:cubicBezTo>
                  <a:close/>
                </a:path>
              </a:pathLst>
            </a:custGeom>
            <a:solidFill>
              <a:srgbClr val="70BF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14888" cy="190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087463" y="7512974"/>
            <a:ext cx="6157374" cy="142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</a:t>
            </a:r>
            <a:r>
              <a:rPr lang="en-US" sz="409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studo da plataforma Orion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3237" y="1136127"/>
            <a:ext cx="8161526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Objetivos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0506" y="1028700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45617" y="5546459"/>
            <a:ext cx="5435240" cy="2038523"/>
            <a:chOff x="0" y="0"/>
            <a:chExt cx="7246987" cy="271803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7693" y="0"/>
              <a:ext cx="7091602" cy="2718031"/>
              <a:chOff x="0" y="0"/>
              <a:chExt cx="444757" cy="1704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44757" cy="170464"/>
              </a:xfrm>
              <a:custGeom>
                <a:avLst/>
                <a:gdLst/>
                <a:ahLst/>
                <a:cxnLst/>
                <a:rect r="r" b="b" t="t" l="l"/>
                <a:pathLst>
                  <a:path h="170464" w="444757">
                    <a:moveTo>
                      <a:pt x="85232" y="0"/>
                    </a:moveTo>
                    <a:lnTo>
                      <a:pt x="359525" y="0"/>
                    </a:lnTo>
                    <a:cubicBezTo>
                      <a:pt x="382130" y="0"/>
                      <a:pt x="403809" y="8980"/>
                      <a:pt x="419793" y="24964"/>
                    </a:cubicBezTo>
                    <a:cubicBezTo>
                      <a:pt x="435777" y="40948"/>
                      <a:pt x="444757" y="62627"/>
                      <a:pt x="444757" y="85232"/>
                    </a:cubicBezTo>
                    <a:lnTo>
                      <a:pt x="444757" y="85232"/>
                    </a:lnTo>
                    <a:cubicBezTo>
                      <a:pt x="444757" y="107837"/>
                      <a:pt x="435777" y="129516"/>
                      <a:pt x="419793" y="145500"/>
                    </a:cubicBezTo>
                    <a:cubicBezTo>
                      <a:pt x="403809" y="161484"/>
                      <a:pt x="382130" y="170464"/>
                      <a:pt x="359525" y="170464"/>
                    </a:cubicBezTo>
                    <a:lnTo>
                      <a:pt x="85232" y="170464"/>
                    </a:lnTo>
                    <a:cubicBezTo>
                      <a:pt x="62627" y="170464"/>
                      <a:pt x="40948" y="161484"/>
                      <a:pt x="24964" y="145500"/>
                    </a:cubicBezTo>
                    <a:cubicBezTo>
                      <a:pt x="8980" y="129516"/>
                      <a:pt x="0" y="107837"/>
                      <a:pt x="0" y="85232"/>
                    </a:cubicBezTo>
                    <a:lnTo>
                      <a:pt x="0" y="85232"/>
                    </a:lnTo>
                    <a:cubicBezTo>
                      <a:pt x="0" y="62627"/>
                      <a:pt x="8980" y="40948"/>
                      <a:pt x="24964" y="24964"/>
                    </a:cubicBezTo>
                    <a:cubicBezTo>
                      <a:pt x="40948" y="8980"/>
                      <a:pt x="62627" y="0"/>
                      <a:pt x="85232" y="0"/>
                    </a:cubicBezTo>
                    <a:close/>
                  </a:path>
                </a:pathLst>
              </a:custGeom>
              <a:solidFill>
                <a:srgbClr val="CB8EA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14300"/>
                <a:ext cx="444757" cy="284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85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377429"/>
              <a:ext cx="7246987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Pesquisa e fundamentação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55061" y="2663428"/>
            <a:ext cx="8064009" cy="2692531"/>
            <a:chOff x="0" y="0"/>
            <a:chExt cx="10752013" cy="35900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571753" cy="3590041"/>
              <a:chOff x="0" y="0"/>
              <a:chExt cx="663019" cy="22515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3019" cy="225153"/>
              </a:xfrm>
              <a:custGeom>
                <a:avLst/>
                <a:gdLst/>
                <a:ahLst/>
                <a:cxnLst/>
                <a:rect r="r" b="b" t="t" l="l"/>
                <a:pathLst>
                  <a:path h="225153" w="663019">
                    <a:moveTo>
                      <a:pt x="68350" y="0"/>
                    </a:moveTo>
                    <a:lnTo>
                      <a:pt x="594669" y="0"/>
                    </a:lnTo>
                    <a:cubicBezTo>
                      <a:pt x="632417" y="0"/>
                      <a:pt x="663019" y="30601"/>
                      <a:pt x="663019" y="68350"/>
                    </a:cubicBezTo>
                    <a:lnTo>
                      <a:pt x="663019" y="156803"/>
                    </a:lnTo>
                    <a:cubicBezTo>
                      <a:pt x="663019" y="194552"/>
                      <a:pt x="632417" y="225153"/>
                      <a:pt x="594669" y="225153"/>
                    </a:cubicBezTo>
                    <a:lnTo>
                      <a:pt x="68350" y="225153"/>
                    </a:lnTo>
                    <a:cubicBezTo>
                      <a:pt x="30601" y="225153"/>
                      <a:pt x="0" y="194552"/>
                      <a:pt x="0" y="156803"/>
                    </a:cubicBezTo>
                    <a:lnTo>
                      <a:pt x="0" y="68350"/>
                    </a:lnTo>
                    <a:cubicBezTo>
                      <a:pt x="0" y="30601"/>
                      <a:pt x="30601" y="0"/>
                      <a:pt x="68350" y="0"/>
                    </a:cubicBezTo>
                    <a:close/>
                  </a:path>
                </a:pathLst>
              </a:custGeom>
              <a:solidFill>
                <a:srgbClr val="CB8EA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14300"/>
                <a:ext cx="663019" cy="339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85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280391"/>
              <a:ext cx="10752013" cy="2842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Visão computacional + Manossolfa + música + estímulos motor e cognitivo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3027" y="5546459"/>
            <a:ext cx="5318701" cy="2038523"/>
            <a:chOff x="0" y="0"/>
            <a:chExt cx="7091602" cy="271803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091602" cy="2718031"/>
              <a:chOff x="0" y="0"/>
              <a:chExt cx="444757" cy="17046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4757" cy="170464"/>
              </a:xfrm>
              <a:custGeom>
                <a:avLst/>
                <a:gdLst/>
                <a:ahLst/>
                <a:cxnLst/>
                <a:rect r="r" b="b" t="t" l="l"/>
                <a:pathLst>
                  <a:path h="170464" w="444757">
                    <a:moveTo>
                      <a:pt x="85232" y="0"/>
                    </a:moveTo>
                    <a:lnTo>
                      <a:pt x="359525" y="0"/>
                    </a:lnTo>
                    <a:cubicBezTo>
                      <a:pt x="382130" y="0"/>
                      <a:pt x="403809" y="8980"/>
                      <a:pt x="419793" y="24964"/>
                    </a:cubicBezTo>
                    <a:cubicBezTo>
                      <a:pt x="435777" y="40948"/>
                      <a:pt x="444757" y="62627"/>
                      <a:pt x="444757" y="85232"/>
                    </a:cubicBezTo>
                    <a:lnTo>
                      <a:pt x="444757" y="85232"/>
                    </a:lnTo>
                    <a:cubicBezTo>
                      <a:pt x="444757" y="107837"/>
                      <a:pt x="435777" y="129516"/>
                      <a:pt x="419793" y="145500"/>
                    </a:cubicBezTo>
                    <a:cubicBezTo>
                      <a:pt x="403809" y="161484"/>
                      <a:pt x="382130" y="170464"/>
                      <a:pt x="359525" y="170464"/>
                    </a:cubicBezTo>
                    <a:lnTo>
                      <a:pt x="85232" y="170464"/>
                    </a:lnTo>
                    <a:cubicBezTo>
                      <a:pt x="62627" y="170464"/>
                      <a:pt x="40948" y="161484"/>
                      <a:pt x="24964" y="145500"/>
                    </a:cubicBezTo>
                    <a:cubicBezTo>
                      <a:pt x="8980" y="129516"/>
                      <a:pt x="0" y="107837"/>
                      <a:pt x="0" y="85232"/>
                    </a:cubicBezTo>
                    <a:lnTo>
                      <a:pt x="0" y="85232"/>
                    </a:lnTo>
                    <a:cubicBezTo>
                      <a:pt x="0" y="62627"/>
                      <a:pt x="8980" y="40948"/>
                      <a:pt x="24964" y="24964"/>
                    </a:cubicBezTo>
                    <a:cubicBezTo>
                      <a:pt x="40948" y="8980"/>
                      <a:pt x="62627" y="0"/>
                      <a:pt x="85232" y="0"/>
                    </a:cubicBezTo>
                    <a:close/>
                  </a:path>
                </a:pathLst>
              </a:custGeom>
              <a:solidFill>
                <a:srgbClr val="CB8EA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14300"/>
                <a:ext cx="444757" cy="284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85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4351" y="377429"/>
              <a:ext cx="6393144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Reconhecimento dos gestos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03886" y="7907676"/>
            <a:ext cx="5318701" cy="2038523"/>
            <a:chOff x="0" y="0"/>
            <a:chExt cx="7091602" cy="271803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091602" cy="2718031"/>
              <a:chOff x="0" y="0"/>
              <a:chExt cx="444757" cy="1704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44757" cy="170464"/>
              </a:xfrm>
              <a:custGeom>
                <a:avLst/>
                <a:gdLst/>
                <a:ahLst/>
                <a:cxnLst/>
                <a:rect r="r" b="b" t="t" l="l"/>
                <a:pathLst>
                  <a:path h="170464" w="444757">
                    <a:moveTo>
                      <a:pt x="85232" y="0"/>
                    </a:moveTo>
                    <a:lnTo>
                      <a:pt x="359525" y="0"/>
                    </a:lnTo>
                    <a:cubicBezTo>
                      <a:pt x="382130" y="0"/>
                      <a:pt x="403809" y="8980"/>
                      <a:pt x="419793" y="24964"/>
                    </a:cubicBezTo>
                    <a:cubicBezTo>
                      <a:pt x="435777" y="40948"/>
                      <a:pt x="444757" y="62627"/>
                      <a:pt x="444757" y="85232"/>
                    </a:cubicBezTo>
                    <a:lnTo>
                      <a:pt x="444757" y="85232"/>
                    </a:lnTo>
                    <a:cubicBezTo>
                      <a:pt x="444757" y="107837"/>
                      <a:pt x="435777" y="129516"/>
                      <a:pt x="419793" y="145500"/>
                    </a:cubicBezTo>
                    <a:cubicBezTo>
                      <a:pt x="403809" y="161484"/>
                      <a:pt x="382130" y="170464"/>
                      <a:pt x="359525" y="170464"/>
                    </a:cubicBezTo>
                    <a:lnTo>
                      <a:pt x="85232" y="170464"/>
                    </a:lnTo>
                    <a:cubicBezTo>
                      <a:pt x="62627" y="170464"/>
                      <a:pt x="40948" y="161484"/>
                      <a:pt x="24964" y="145500"/>
                    </a:cubicBezTo>
                    <a:cubicBezTo>
                      <a:pt x="8980" y="129516"/>
                      <a:pt x="0" y="107837"/>
                      <a:pt x="0" y="85232"/>
                    </a:cubicBezTo>
                    <a:lnTo>
                      <a:pt x="0" y="85232"/>
                    </a:lnTo>
                    <a:cubicBezTo>
                      <a:pt x="0" y="62627"/>
                      <a:pt x="8980" y="40948"/>
                      <a:pt x="24964" y="24964"/>
                    </a:cubicBezTo>
                    <a:cubicBezTo>
                      <a:pt x="40948" y="8980"/>
                      <a:pt x="62627" y="0"/>
                      <a:pt x="85232" y="0"/>
                    </a:cubicBezTo>
                    <a:close/>
                  </a:path>
                </a:pathLst>
              </a:custGeom>
              <a:solidFill>
                <a:srgbClr val="CB8EA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14300"/>
                <a:ext cx="444757" cy="284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85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894" y="377429"/>
              <a:ext cx="6683814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Plataforma interativa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85371" y="7907676"/>
            <a:ext cx="5318701" cy="2038523"/>
            <a:chOff x="0" y="0"/>
            <a:chExt cx="7091602" cy="271803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091602" cy="2718031"/>
              <a:chOff x="0" y="0"/>
              <a:chExt cx="444757" cy="1704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44757" cy="170464"/>
              </a:xfrm>
              <a:custGeom>
                <a:avLst/>
                <a:gdLst/>
                <a:ahLst/>
                <a:cxnLst/>
                <a:rect r="r" b="b" t="t" l="l"/>
                <a:pathLst>
                  <a:path h="170464" w="444757">
                    <a:moveTo>
                      <a:pt x="85232" y="0"/>
                    </a:moveTo>
                    <a:lnTo>
                      <a:pt x="359525" y="0"/>
                    </a:lnTo>
                    <a:cubicBezTo>
                      <a:pt x="382130" y="0"/>
                      <a:pt x="403809" y="8980"/>
                      <a:pt x="419793" y="24964"/>
                    </a:cubicBezTo>
                    <a:cubicBezTo>
                      <a:pt x="435777" y="40948"/>
                      <a:pt x="444757" y="62627"/>
                      <a:pt x="444757" y="85232"/>
                    </a:cubicBezTo>
                    <a:lnTo>
                      <a:pt x="444757" y="85232"/>
                    </a:lnTo>
                    <a:cubicBezTo>
                      <a:pt x="444757" y="107837"/>
                      <a:pt x="435777" y="129516"/>
                      <a:pt x="419793" y="145500"/>
                    </a:cubicBezTo>
                    <a:cubicBezTo>
                      <a:pt x="403809" y="161484"/>
                      <a:pt x="382130" y="170464"/>
                      <a:pt x="359525" y="170464"/>
                    </a:cubicBezTo>
                    <a:lnTo>
                      <a:pt x="85232" y="170464"/>
                    </a:lnTo>
                    <a:cubicBezTo>
                      <a:pt x="62627" y="170464"/>
                      <a:pt x="40948" y="161484"/>
                      <a:pt x="24964" y="145500"/>
                    </a:cubicBezTo>
                    <a:cubicBezTo>
                      <a:pt x="8980" y="129516"/>
                      <a:pt x="0" y="107837"/>
                      <a:pt x="0" y="85232"/>
                    </a:cubicBezTo>
                    <a:lnTo>
                      <a:pt x="0" y="85232"/>
                    </a:lnTo>
                    <a:cubicBezTo>
                      <a:pt x="0" y="62627"/>
                      <a:pt x="8980" y="40948"/>
                      <a:pt x="24964" y="24964"/>
                    </a:cubicBezTo>
                    <a:cubicBezTo>
                      <a:pt x="40948" y="8980"/>
                      <a:pt x="62627" y="0"/>
                      <a:pt x="85232" y="0"/>
                    </a:cubicBezTo>
                    <a:close/>
                  </a:path>
                </a:pathLst>
              </a:custGeom>
              <a:solidFill>
                <a:srgbClr val="CB8EA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14300"/>
                <a:ext cx="444757" cy="284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85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894" y="377429"/>
              <a:ext cx="6683814" cy="187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Avaliação e expansão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3338120" y="3710559"/>
            <a:ext cx="1708531" cy="1512050"/>
          </a:xfrm>
          <a:custGeom>
            <a:avLst/>
            <a:gdLst/>
            <a:ahLst/>
            <a:cxnLst/>
            <a:rect r="r" b="b" t="t" l="l"/>
            <a:pathLst>
              <a:path h="1512050" w="1708531">
                <a:moveTo>
                  <a:pt x="0" y="0"/>
                </a:moveTo>
                <a:lnTo>
                  <a:pt x="1708532" y="0"/>
                </a:lnTo>
                <a:lnTo>
                  <a:pt x="1708532" y="1512050"/>
                </a:lnTo>
                <a:lnTo>
                  <a:pt x="0" y="1512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1076018">
            <a:off x="526462" y="7017120"/>
            <a:ext cx="1781111" cy="1781111"/>
          </a:xfrm>
          <a:custGeom>
            <a:avLst/>
            <a:gdLst/>
            <a:ahLst/>
            <a:cxnLst/>
            <a:rect r="r" b="b" t="t" l="l"/>
            <a:pathLst>
              <a:path h="1781111" w="1781111">
                <a:moveTo>
                  <a:pt x="0" y="0"/>
                </a:moveTo>
                <a:lnTo>
                  <a:pt x="1781111" y="0"/>
                </a:lnTo>
                <a:lnTo>
                  <a:pt x="1781111" y="1781112"/>
                </a:lnTo>
                <a:lnTo>
                  <a:pt x="0" y="1781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true" flipV="false" rot="-664764">
            <a:off x="16366474" y="7108788"/>
            <a:ext cx="1299038" cy="1709261"/>
          </a:xfrm>
          <a:custGeom>
            <a:avLst/>
            <a:gdLst/>
            <a:ahLst/>
            <a:cxnLst/>
            <a:rect r="r" b="b" t="t" l="l"/>
            <a:pathLst>
              <a:path h="1709261" w="1299038">
                <a:moveTo>
                  <a:pt x="1299039" y="0"/>
                </a:moveTo>
                <a:lnTo>
                  <a:pt x="0" y="0"/>
                </a:lnTo>
                <a:lnTo>
                  <a:pt x="0" y="1709261"/>
                </a:lnTo>
                <a:lnTo>
                  <a:pt x="1299039" y="1709261"/>
                </a:lnTo>
                <a:lnTo>
                  <a:pt x="1299039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8144525" y="6363973"/>
            <a:ext cx="2334833" cy="3265500"/>
          </a:xfrm>
          <a:custGeom>
            <a:avLst/>
            <a:gdLst/>
            <a:ahLst/>
            <a:cxnLst/>
            <a:rect r="r" b="b" t="t" l="l"/>
            <a:pathLst>
              <a:path h="3265500" w="2334833">
                <a:moveTo>
                  <a:pt x="0" y="0"/>
                </a:moveTo>
                <a:lnTo>
                  <a:pt x="2334833" y="0"/>
                </a:lnTo>
                <a:lnTo>
                  <a:pt x="2334833" y="3265500"/>
                </a:lnTo>
                <a:lnTo>
                  <a:pt x="0" y="3265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1107625">
            <a:off x="4147120" y="3846492"/>
            <a:ext cx="1147745" cy="1779449"/>
          </a:xfrm>
          <a:custGeom>
            <a:avLst/>
            <a:gdLst/>
            <a:ahLst/>
            <a:cxnLst/>
            <a:rect r="r" b="b" t="t" l="l"/>
            <a:pathLst>
              <a:path h="1779449" w="1147745">
                <a:moveTo>
                  <a:pt x="0" y="0"/>
                </a:moveTo>
                <a:lnTo>
                  <a:pt x="1147745" y="0"/>
                </a:lnTo>
                <a:lnTo>
                  <a:pt x="1147745" y="1779449"/>
                </a:lnTo>
                <a:lnTo>
                  <a:pt x="0" y="17794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3237" y="1136127"/>
            <a:ext cx="8161526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Metodologia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5009" y="2784972"/>
            <a:ext cx="17137981" cy="6894612"/>
            <a:chOff x="0" y="0"/>
            <a:chExt cx="1433102" cy="57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3102" cy="576537"/>
            </a:xfrm>
            <a:custGeom>
              <a:avLst/>
              <a:gdLst/>
              <a:ahLst/>
              <a:cxnLst/>
              <a:rect r="r" b="b" t="t" l="l"/>
              <a:pathLst>
                <a:path h="576537" w="1433102">
                  <a:moveTo>
                    <a:pt x="31622" y="0"/>
                  </a:moveTo>
                  <a:lnTo>
                    <a:pt x="1401480" y="0"/>
                  </a:lnTo>
                  <a:cubicBezTo>
                    <a:pt x="1409867" y="0"/>
                    <a:pt x="1417910" y="3332"/>
                    <a:pt x="1423840" y="9262"/>
                  </a:cubicBezTo>
                  <a:cubicBezTo>
                    <a:pt x="1429770" y="15192"/>
                    <a:pt x="1433102" y="23235"/>
                    <a:pt x="1433102" y="31622"/>
                  </a:cubicBezTo>
                  <a:lnTo>
                    <a:pt x="1433102" y="544915"/>
                  </a:lnTo>
                  <a:cubicBezTo>
                    <a:pt x="1433102" y="562380"/>
                    <a:pt x="1418944" y="576537"/>
                    <a:pt x="1401480" y="576537"/>
                  </a:cubicBezTo>
                  <a:lnTo>
                    <a:pt x="31622" y="576537"/>
                  </a:lnTo>
                  <a:cubicBezTo>
                    <a:pt x="14158" y="576537"/>
                    <a:pt x="0" y="562380"/>
                    <a:pt x="0" y="544915"/>
                  </a:cubicBezTo>
                  <a:lnTo>
                    <a:pt x="0" y="31622"/>
                  </a:lnTo>
                  <a:cubicBezTo>
                    <a:pt x="0" y="14158"/>
                    <a:pt x="14158" y="0"/>
                    <a:pt x="31622" y="0"/>
                  </a:cubicBezTo>
                  <a:close/>
                </a:path>
              </a:pathLst>
            </a:custGeom>
            <a:solidFill>
              <a:srgbClr val="CB8EA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433102" cy="690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22380" y="109161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3" y="0"/>
                </a:lnTo>
                <a:lnTo>
                  <a:pt x="1853023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30801" y="4747141"/>
            <a:ext cx="2641840" cy="2430493"/>
          </a:xfrm>
          <a:custGeom>
            <a:avLst/>
            <a:gdLst/>
            <a:ahLst/>
            <a:cxnLst/>
            <a:rect r="r" b="b" t="t" l="l"/>
            <a:pathLst>
              <a:path h="2430493" w="2641840">
                <a:moveTo>
                  <a:pt x="0" y="0"/>
                </a:moveTo>
                <a:lnTo>
                  <a:pt x="2641840" y="0"/>
                </a:lnTo>
                <a:lnTo>
                  <a:pt x="2641840" y="2430493"/>
                </a:lnTo>
                <a:lnTo>
                  <a:pt x="0" y="24304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14602" y="4747141"/>
            <a:ext cx="2779296" cy="2779296"/>
          </a:xfrm>
          <a:custGeom>
            <a:avLst/>
            <a:gdLst/>
            <a:ahLst/>
            <a:cxnLst/>
            <a:rect r="r" b="b" t="t" l="l"/>
            <a:pathLst>
              <a:path h="2779296" w="2779296">
                <a:moveTo>
                  <a:pt x="0" y="0"/>
                </a:moveTo>
                <a:lnTo>
                  <a:pt x="2779296" y="0"/>
                </a:lnTo>
                <a:lnTo>
                  <a:pt x="2779296" y="2779295"/>
                </a:lnTo>
                <a:lnTo>
                  <a:pt x="0" y="27792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39017" y="5047151"/>
            <a:ext cx="2179275" cy="2179275"/>
          </a:xfrm>
          <a:custGeom>
            <a:avLst/>
            <a:gdLst/>
            <a:ahLst/>
            <a:cxnLst/>
            <a:rect r="r" b="b" t="t" l="l"/>
            <a:pathLst>
              <a:path h="2179275" w="2179275">
                <a:moveTo>
                  <a:pt x="0" y="0"/>
                </a:moveTo>
                <a:lnTo>
                  <a:pt x="2179275" y="0"/>
                </a:lnTo>
                <a:lnTo>
                  <a:pt x="2179275" y="2179275"/>
                </a:lnTo>
                <a:lnTo>
                  <a:pt x="0" y="2179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89332" y="5047151"/>
            <a:ext cx="2184363" cy="2013710"/>
          </a:xfrm>
          <a:custGeom>
            <a:avLst/>
            <a:gdLst/>
            <a:ahLst/>
            <a:cxnLst/>
            <a:rect r="r" b="b" t="t" l="l"/>
            <a:pathLst>
              <a:path h="2013710" w="2184363">
                <a:moveTo>
                  <a:pt x="0" y="0"/>
                </a:moveTo>
                <a:lnTo>
                  <a:pt x="2184363" y="0"/>
                </a:lnTo>
                <a:lnTo>
                  <a:pt x="2184363" y="2013710"/>
                </a:lnTo>
                <a:lnTo>
                  <a:pt x="0" y="2013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26926" y="7485237"/>
            <a:ext cx="3268640" cy="80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311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Visão computacional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81252" y="7485237"/>
            <a:ext cx="2800385" cy="80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311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MediaPipe Hands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22299" y="7680276"/>
            <a:ext cx="3268640" cy="41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311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59165" y="7680276"/>
            <a:ext cx="3334788" cy="41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311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React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4251829" y="5778743"/>
            <a:ext cx="6894612" cy="907070"/>
          </a:xfrm>
          <a:custGeom>
            <a:avLst/>
            <a:gdLst/>
            <a:ahLst/>
            <a:cxnLst/>
            <a:rect r="r" b="b" t="t" l="l"/>
            <a:pathLst>
              <a:path h="907070" w="6894612">
                <a:moveTo>
                  <a:pt x="0" y="0"/>
                </a:moveTo>
                <a:lnTo>
                  <a:pt x="6894611" y="0"/>
                </a:lnTo>
                <a:lnTo>
                  <a:pt x="6894611" y="907071"/>
                </a:lnTo>
                <a:lnTo>
                  <a:pt x="0" y="907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7702141" y="5778743"/>
            <a:ext cx="6894612" cy="907070"/>
          </a:xfrm>
          <a:custGeom>
            <a:avLst/>
            <a:gdLst/>
            <a:ahLst/>
            <a:cxnLst/>
            <a:rect r="r" b="b" t="t" l="l"/>
            <a:pathLst>
              <a:path h="907070" w="6894612">
                <a:moveTo>
                  <a:pt x="0" y="0"/>
                </a:moveTo>
                <a:lnTo>
                  <a:pt x="6894612" y="0"/>
                </a:lnTo>
                <a:lnTo>
                  <a:pt x="6894612" y="907071"/>
                </a:lnTo>
                <a:lnTo>
                  <a:pt x="0" y="907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594047" y="7875314"/>
            <a:ext cx="3268640" cy="41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311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Manossolfa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457866" y="5778743"/>
            <a:ext cx="6894612" cy="907070"/>
          </a:xfrm>
          <a:custGeom>
            <a:avLst/>
            <a:gdLst/>
            <a:ahLst/>
            <a:cxnLst/>
            <a:rect r="r" b="b" t="t" l="l"/>
            <a:pathLst>
              <a:path h="907070" w="6894612">
                <a:moveTo>
                  <a:pt x="0" y="0"/>
                </a:moveTo>
                <a:lnTo>
                  <a:pt x="6894612" y="0"/>
                </a:lnTo>
                <a:lnTo>
                  <a:pt x="6894612" y="907071"/>
                </a:lnTo>
                <a:lnTo>
                  <a:pt x="0" y="907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150094" y="4606069"/>
            <a:ext cx="2156547" cy="2712637"/>
          </a:xfrm>
          <a:custGeom>
            <a:avLst/>
            <a:gdLst/>
            <a:ahLst/>
            <a:cxnLst/>
            <a:rect r="r" b="b" t="t" l="l"/>
            <a:pathLst>
              <a:path h="2712637" w="2156547">
                <a:moveTo>
                  <a:pt x="0" y="0"/>
                </a:moveTo>
                <a:lnTo>
                  <a:pt x="2156547" y="0"/>
                </a:lnTo>
                <a:lnTo>
                  <a:pt x="2156547" y="2712637"/>
                </a:lnTo>
                <a:lnTo>
                  <a:pt x="0" y="27126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11016031" y="5778743"/>
            <a:ext cx="6894612" cy="907070"/>
          </a:xfrm>
          <a:custGeom>
            <a:avLst/>
            <a:gdLst/>
            <a:ahLst/>
            <a:cxnLst/>
            <a:rect r="r" b="b" t="t" l="l"/>
            <a:pathLst>
              <a:path h="907070" w="6894612">
                <a:moveTo>
                  <a:pt x="0" y="0"/>
                </a:moveTo>
                <a:lnTo>
                  <a:pt x="6894612" y="0"/>
                </a:lnTo>
                <a:lnTo>
                  <a:pt x="6894612" y="907071"/>
                </a:lnTo>
                <a:lnTo>
                  <a:pt x="0" y="907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590" t="0" r="-51812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718" y="1116237"/>
            <a:ext cx="13103514" cy="140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Processos realizados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405" y="88763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3"/>
                </a:lnTo>
                <a:lnTo>
                  <a:pt x="0" y="185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1668" y="3202587"/>
            <a:ext cx="3231015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Estudo do MediaPipe Hands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8904" y="3239746"/>
            <a:ext cx="2754938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Estudo sobre a manossolfa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45854" y="3249271"/>
            <a:ext cx="4440074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Estudo da música como estímulo cognitivo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83708" y="2973013"/>
            <a:ext cx="4029970" cy="158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Lei</a:t>
            </a: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tura de imagem e detecção de landmarks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1463" y="5306400"/>
            <a:ext cx="3231015" cy="158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Mapeamen</a:t>
            </a: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to de gestos com as notas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4772" y="5582658"/>
            <a:ext cx="4440074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WebSocke</a:t>
            </a: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 de recebimento da imagem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1481" y="7897431"/>
            <a:ext cx="3781926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Desenvolvimen</a:t>
            </a: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to do front-end atual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80993" y="7897431"/>
            <a:ext cx="4440074" cy="10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1º fron</a:t>
            </a:r>
            <a:r>
              <a:rPr lang="en-US" sz="300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 de teste (validação da ideia)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5616" y="3296896"/>
            <a:ext cx="4446263" cy="1761371"/>
            <a:chOff x="0" y="0"/>
            <a:chExt cx="5928351" cy="234849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44844" y="0"/>
              <a:ext cx="5883507" cy="2348494"/>
              <a:chOff x="0" y="0"/>
              <a:chExt cx="368990" cy="1472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487289"/>
              <a:ext cx="5883507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Estudo sobre a manossolfa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31590" y="3306421"/>
            <a:ext cx="4505867" cy="1761371"/>
            <a:chOff x="0" y="0"/>
            <a:chExt cx="6007823" cy="234849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007823" cy="2348494"/>
              <a:chOff x="0" y="0"/>
              <a:chExt cx="376787" cy="14728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76787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76787">
                    <a:moveTo>
                      <a:pt x="73644" y="0"/>
                    </a:moveTo>
                    <a:lnTo>
                      <a:pt x="303143" y="0"/>
                    </a:lnTo>
                    <a:cubicBezTo>
                      <a:pt x="343815" y="0"/>
                      <a:pt x="376787" y="32972"/>
                      <a:pt x="376787" y="73644"/>
                    </a:cubicBezTo>
                    <a:lnTo>
                      <a:pt x="376787" y="73644"/>
                    </a:lnTo>
                    <a:cubicBezTo>
                      <a:pt x="376787" y="93176"/>
                      <a:pt x="369028" y="111907"/>
                      <a:pt x="355217" y="125718"/>
                    </a:cubicBezTo>
                    <a:cubicBezTo>
                      <a:pt x="341406" y="139529"/>
                      <a:pt x="322674" y="147288"/>
                      <a:pt x="303143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376787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23769" y="487289"/>
              <a:ext cx="5760284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Estudo da música como estímulo cognitivo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13657" y="3306421"/>
            <a:ext cx="4446263" cy="1761371"/>
            <a:chOff x="0" y="0"/>
            <a:chExt cx="5928351" cy="234849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44844" y="0"/>
              <a:ext cx="5883507" cy="2348494"/>
              <a:chOff x="0" y="0"/>
              <a:chExt cx="368990" cy="14728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487289"/>
              <a:ext cx="5883507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Estudo do MediaPipe Hands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69753" y="3259737"/>
            <a:ext cx="4412630" cy="1761371"/>
            <a:chOff x="0" y="0"/>
            <a:chExt cx="5883507" cy="234849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883507" cy="2348494"/>
              <a:chOff x="0" y="0"/>
              <a:chExt cx="368990" cy="14728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13803" y="157089"/>
              <a:ext cx="5510560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Lei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tura de imagem e detecção de landmarks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125005" y="5639808"/>
            <a:ext cx="4412630" cy="1761371"/>
            <a:chOff x="0" y="0"/>
            <a:chExt cx="5883507" cy="234849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883507" cy="2348494"/>
              <a:chOff x="0" y="0"/>
              <a:chExt cx="368990" cy="14728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17552" y="456697"/>
              <a:ext cx="5448402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Cálc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ulo de detecção de gesto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37685" y="5630501"/>
            <a:ext cx="4412630" cy="1761371"/>
            <a:chOff x="0" y="0"/>
            <a:chExt cx="5883507" cy="234849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883507" cy="2348494"/>
              <a:chOff x="0" y="0"/>
              <a:chExt cx="368990" cy="14728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71056" y="487289"/>
              <a:ext cx="555199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Mapeamen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to de gestos com as notas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52444" y="5578921"/>
            <a:ext cx="4412630" cy="1761371"/>
            <a:chOff x="0" y="0"/>
            <a:chExt cx="5883507" cy="234849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883507" cy="2348494"/>
              <a:chOff x="0" y="0"/>
              <a:chExt cx="368990" cy="14728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71056" y="132344"/>
              <a:ext cx="5551999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WebSocke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t de recebimento da imagem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91371" y="7982204"/>
            <a:ext cx="4446263" cy="1761371"/>
            <a:chOff x="0" y="0"/>
            <a:chExt cx="5928351" cy="2348494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44844" y="0"/>
              <a:ext cx="5883507" cy="2348494"/>
              <a:chOff x="0" y="0"/>
              <a:chExt cx="368990" cy="14728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144389"/>
              <a:ext cx="5883507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WebSocke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t de transmissão do gesto reconhecido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20868" y="8064628"/>
            <a:ext cx="4446263" cy="1761371"/>
            <a:chOff x="0" y="0"/>
            <a:chExt cx="5928351" cy="2348494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44844" y="0"/>
              <a:ext cx="5883507" cy="2348494"/>
              <a:chOff x="0" y="0"/>
              <a:chExt cx="368990" cy="14728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0" y="487289"/>
              <a:ext cx="5883507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1º fron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t de teste (validação da ideia)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718811" y="7982204"/>
            <a:ext cx="4446263" cy="1761371"/>
            <a:chOff x="0" y="0"/>
            <a:chExt cx="5928351" cy="2348494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44844" y="0"/>
              <a:ext cx="5883507" cy="2348494"/>
              <a:chOff x="0" y="0"/>
              <a:chExt cx="368990" cy="14728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36899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368990">
                    <a:moveTo>
                      <a:pt x="73644" y="0"/>
                    </a:moveTo>
                    <a:lnTo>
                      <a:pt x="295346" y="0"/>
                    </a:lnTo>
                    <a:cubicBezTo>
                      <a:pt x="314878" y="0"/>
                      <a:pt x="333609" y="7759"/>
                      <a:pt x="347420" y="21570"/>
                    </a:cubicBezTo>
                    <a:cubicBezTo>
                      <a:pt x="361231" y="35381"/>
                      <a:pt x="368990" y="54113"/>
                      <a:pt x="368990" y="73644"/>
                    </a:cubicBezTo>
                    <a:lnTo>
                      <a:pt x="368990" y="73644"/>
                    </a:lnTo>
                    <a:cubicBezTo>
                      <a:pt x="368990" y="93176"/>
                      <a:pt x="361231" y="111907"/>
                      <a:pt x="347420" y="125718"/>
                    </a:cubicBezTo>
                    <a:cubicBezTo>
                      <a:pt x="333609" y="139529"/>
                      <a:pt x="314878" y="147288"/>
                      <a:pt x="29534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36899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0" y="487289"/>
              <a:ext cx="5883507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D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esenvolvimento do front-end atual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377405" y="6680035"/>
            <a:ext cx="1564512" cy="1384593"/>
          </a:xfrm>
          <a:custGeom>
            <a:avLst/>
            <a:gdLst/>
            <a:ahLst/>
            <a:cxnLst/>
            <a:rect r="r" b="b" t="t" l="l"/>
            <a:pathLst>
              <a:path h="1384593" w="1564512">
                <a:moveTo>
                  <a:pt x="0" y="0"/>
                </a:moveTo>
                <a:lnTo>
                  <a:pt x="1564512" y="0"/>
                </a:lnTo>
                <a:lnTo>
                  <a:pt x="1564512" y="1384593"/>
                </a:lnTo>
                <a:lnTo>
                  <a:pt x="0" y="1384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550681">
            <a:off x="16470696" y="5682069"/>
            <a:ext cx="1147745" cy="1779449"/>
          </a:xfrm>
          <a:custGeom>
            <a:avLst/>
            <a:gdLst/>
            <a:ahLst/>
            <a:cxnLst/>
            <a:rect r="r" b="b" t="t" l="l"/>
            <a:pathLst>
              <a:path h="1779449" w="1147745">
                <a:moveTo>
                  <a:pt x="0" y="0"/>
                </a:moveTo>
                <a:lnTo>
                  <a:pt x="1147745" y="0"/>
                </a:lnTo>
                <a:lnTo>
                  <a:pt x="1147745" y="1779449"/>
                </a:lnTo>
                <a:lnTo>
                  <a:pt x="0" y="17794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580246">
            <a:off x="16995332" y="7235547"/>
            <a:ext cx="850161" cy="1156682"/>
          </a:xfrm>
          <a:custGeom>
            <a:avLst/>
            <a:gdLst/>
            <a:ahLst/>
            <a:cxnLst/>
            <a:rect r="r" b="b" t="t" l="l"/>
            <a:pathLst>
              <a:path h="1156682" w="850161">
                <a:moveTo>
                  <a:pt x="0" y="0"/>
                </a:moveTo>
                <a:lnTo>
                  <a:pt x="850161" y="0"/>
                </a:lnTo>
                <a:lnTo>
                  <a:pt x="850161" y="1156683"/>
                </a:lnTo>
                <a:lnTo>
                  <a:pt x="0" y="11566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6365376" y="8569719"/>
            <a:ext cx="1922624" cy="1518873"/>
          </a:xfrm>
          <a:custGeom>
            <a:avLst/>
            <a:gdLst/>
            <a:ahLst/>
            <a:cxnLst/>
            <a:rect r="r" b="b" t="t" l="l"/>
            <a:pathLst>
              <a:path h="1518873" w="1922624">
                <a:moveTo>
                  <a:pt x="0" y="0"/>
                </a:moveTo>
                <a:lnTo>
                  <a:pt x="1922624" y="0"/>
                </a:lnTo>
                <a:lnTo>
                  <a:pt x="1922624" y="1518873"/>
                </a:lnTo>
                <a:lnTo>
                  <a:pt x="0" y="1518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718" y="1116237"/>
            <a:ext cx="13103514" cy="140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Processos realizados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405" y="88763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3"/>
                </a:lnTo>
                <a:lnTo>
                  <a:pt x="0" y="185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201" y="3649883"/>
            <a:ext cx="5515932" cy="1761371"/>
            <a:chOff x="0" y="0"/>
            <a:chExt cx="7354576" cy="234849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20484" y="474589"/>
              <a:ext cx="70178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Elaboração do banco de dados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6034" y="3649883"/>
            <a:ext cx="5515932" cy="1761371"/>
            <a:chOff x="0" y="0"/>
            <a:chExt cx="7354576" cy="234849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20484" y="474589"/>
              <a:ext cx="70178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Ref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atoração do back (arquitetura modular)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1867" y="3716976"/>
            <a:ext cx="5515932" cy="1761371"/>
            <a:chOff x="0" y="0"/>
            <a:chExt cx="7354576" cy="234849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15784" y="474589"/>
              <a:ext cx="6189108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C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riação de todas as rotas do back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0201" y="6392747"/>
            <a:ext cx="5515932" cy="1761371"/>
            <a:chOff x="0" y="0"/>
            <a:chExt cx="7354576" cy="234849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20484" y="474589"/>
              <a:ext cx="7017879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Escrita/el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aboração das atividades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386034" y="6392747"/>
            <a:ext cx="5515932" cy="1761371"/>
            <a:chOff x="0" y="0"/>
            <a:chExt cx="7354576" cy="234849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36299" y="513403"/>
              <a:ext cx="6292704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Conex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ão das telas no front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1867" y="6392747"/>
            <a:ext cx="5515932" cy="1761371"/>
            <a:chOff x="0" y="0"/>
            <a:chExt cx="7354576" cy="234849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354576" cy="2348494"/>
              <a:chOff x="0" y="0"/>
              <a:chExt cx="461250" cy="14728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61250" cy="147288"/>
              </a:xfrm>
              <a:custGeom>
                <a:avLst/>
                <a:gdLst/>
                <a:ahLst/>
                <a:cxnLst/>
                <a:rect r="r" b="b" t="t" l="l"/>
                <a:pathLst>
                  <a:path h="147288" w="461250">
                    <a:moveTo>
                      <a:pt x="73644" y="0"/>
                    </a:moveTo>
                    <a:lnTo>
                      <a:pt x="387606" y="0"/>
                    </a:lnTo>
                    <a:cubicBezTo>
                      <a:pt x="407137" y="0"/>
                      <a:pt x="425869" y="7759"/>
                      <a:pt x="439680" y="21570"/>
                    </a:cubicBezTo>
                    <a:cubicBezTo>
                      <a:pt x="453491" y="35381"/>
                      <a:pt x="461250" y="54113"/>
                      <a:pt x="461250" y="73644"/>
                    </a:cubicBezTo>
                    <a:lnTo>
                      <a:pt x="461250" y="73644"/>
                    </a:lnTo>
                    <a:cubicBezTo>
                      <a:pt x="461250" y="93176"/>
                      <a:pt x="453491" y="111907"/>
                      <a:pt x="439680" y="125718"/>
                    </a:cubicBezTo>
                    <a:cubicBezTo>
                      <a:pt x="425869" y="139529"/>
                      <a:pt x="407137" y="147288"/>
                      <a:pt x="387606" y="147288"/>
                    </a:cubicBezTo>
                    <a:lnTo>
                      <a:pt x="73644" y="147288"/>
                    </a:lnTo>
                    <a:cubicBezTo>
                      <a:pt x="54113" y="147288"/>
                      <a:pt x="35381" y="139529"/>
                      <a:pt x="21570" y="125718"/>
                    </a:cubicBezTo>
                    <a:cubicBezTo>
                      <a:pt x="7759" y="111907"/>
                      <a:pt x="0" y="93176"/>
                      <a:pt x="0" y="73644"/>
                    </a:cubicBezTo>
                    <a:lnTo>
                      <a:pt x="0" y="73644"/>
                    </a:lnTo>
                    <a:cubicBezTo>
                      <a:pt x="0" y="54113"/>
                      <a:pt x="7759" y="35381"/>
                      <a:pt x="21570" y="21570"/>
                    </a:cubicBezTo>
                    <a:cubicBezTo>
                      <a:pt x="35381" y="7759"/>
                      <a:pt x="54113" y="0"/>
                      <a:pt x="73644" y="0"/>
                    </a:cubicBezTo>
                    <a:close/>
                  </a:path>
                </a:pathLst>
              </a:custGeom>
              <a:solidFill>
                <a:srgbClr val="70BFA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61250" cy="2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36299" y="119644"/>
              <a:ext cx="6292704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Apresentaç</a:t>
              </a:r>
              <a:r>
                <a:rPr lang="en-US" sz="300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ão a fisioterapeutas (validação do projeto)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163668">
            <a:off x="12720054" y="8736725"/>
            <a:ext cx="5557743" cy="1361647"/>
          </a:xfrm>
          <a:custGeom>
            <a:avLst/>
            <a:gdLst/>
            <a:ahLst/>
            <a:cxnLst/>
            <a:rect r="r" b="b" t="t" l="l"/>
            <a:pathLst>
              <a:path h="1361647" w="5557743">
                <a:moveTo>
                  <a:pt x="0" y="0"/>
                </a:moveTo>
                <a:lnTo>
                  <a:pt x="5557744" y="0"/>
                </a:lnTo>
                <a:lnTo>
                  <a:pt x="5557744" y="1361647"/>
                </a:lnTo>
                <a:lnTo>
                  <a:pt x="0" y="1361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718" y="1116092"/>
            <a:ext cx="13103514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Plataforma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405" y="88763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3"/>
                </a:lnTo>
                <a:lnTo>
                  <a:pt x="0" y="185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9383" y="2392042"/>
            <a:ext cx="6890860" cy="3837348"/>
          </a:xfrm>
          <a:custGeom>
            <a:avLst/>
            <a:gdLst/>
            <a:ahLst/>
            <a:cxnLst/>
            <a:rect r="r" b="b" t="t" l="l"/>
            <a:pathLst>
              <a:path h="3837348" w="6890860">
                <a:moveTo>
                  <a:pt x="0" y="0"/>
                </a:moveTo>
                <a:lnTo>
                  <a:pt x="6890859" y="0"/>
                </a:lnTo>
                <a:lnTo>
                  <a:pt x="6890859" y="3837347"/>
                </a:lnTo>
                <a:lnTo>
                  <a:pt x="0" y="38373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CD96C3"/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97018" y="6366625"/>
            <a:ext cx="6238909" cy="3759335"/>
          </a:xfrm>
          <a:custGeom>
            <a:avLst/>
            <a:gdLst/>
            <a:ahLst/>
            <a:cxnLst/>
            <a:rect r="r" b="b" t="t" l="l"/>
            <a:pathLst>
              <a:path h="3759335" w="6238909">
                <a:moveTo>
                  <a:pt x="0" y="0"/>
                </a:moveTo>
                <a:lnTo>
                  <a:pt x="6238909" y="0"/>
                </a:lnTo>
                <a:lnTo>
                  <a:pt x="6238909" y="3759334"/>
                </a:lnTo>
                <a:lnTo>
                  <a:pt x="0" y="3759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513" r="0" b="-13751"/>
            </a:stretch>
          </a:blipFill>
          <a:ln w="38100" cap="rnd">
            <a:solidFill>
              <a:srgbClr val="CD96C3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345832" y="2392042"/>
            <a:ext cx="7514137" cy="3837348"/>
          </a:xfrm>
          <a:custGeom>
            <a:avLst/>
            <a:gdLst/>
            <a:ahLst/>
            <a:cxnLst/>
            <a:rect r="r" b="b" t="t" l="l"/>
            <a:pathLst>
              <a:path h="3837348" w="7514137">
                <a:moveTo>
                  <a:pt x="0" y="0"/>
                </a:moveTo>
                <a:lnTo>
                  <a:pt x="7514137" y="0"/>
                </a:lnTo>
                <a:lnTo>
                  <a:pt x="7514137" y="3837347"/>
                </a:lnTo>
                <a:lnTo>
                  <a:pt x="0" y="38373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rnd">
            <a:solidFill>
              <a:srgbClr val="CD96C3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321436">
            <a:off x="15693266" y="7592293"/>
            <a:ext cx="2455479" cy="2455479"/>
          </a:xfrm>
          <a:custGeom>
            <a:avLst/>
            <a:gdLst/>
            <a:ahLst/>
            <a:cxnLst/>
            <a:rect r="r" b="b" t="t" l="l"/>
            <a:pathLst>
              <a:path h="2455479" w="2455479">
                <a:moveTo>
                  <a:pt x="0" y="0"/>
                </a:moveTo>
                <a:lnTo>
                  <a:pt x="2455479" y="0"/>
                </a:lnTo>
                <a:lnTo>
                  <a:pt x="2455479" y="2455479"/>
                </a:lnTo>
                <a:lnTo>
                  <a:pt x="0" y="24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6994">
            <a:off x="-7068" y="8618943"/>
            <a:ext cx="2355619" cy="1366259"/>
          </a:xfrm>
          <a:custGeom>
            <a:avLst/>
            <a:gdLst/>
            <a:ahLst/>
            <a:cxnLst/>
            <a:rect r="r" b="b" t="t" l="l"/>
            <a:pathLst>
              <a:path h="1366259" w="2355619">
                <a:moveTo>
                  <a:pt x="0" y="0"/>
                </a:moveTo>
                <a:lnTo>
                  <a:pt x="2355619" y="0"/>
                </a:lnTo>
                <a:lnTo>
                  <a:pt x="2355619" y="1366258"/>
                </a:lnTo>
                <a:lnTo>
                  <a:pt x="0" y="13662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226749" y="6366625"/>
            <a:ext cx="6322338" cy="3712524"/>
          </a:xfrm>
          <a:custGeom>
            <a:avLst/>
            <a:gdLst/>
            <a:ahLst/>
            <a:cxnLst/>
            <a:rect r="r" b="b" t="t" l="l"/>
            <a:pathLst>
              <a:path h="3712524" w="6322338">
                <a:moveTo>
                  <a:pt x="0" y="0"/>
                </a:moveTo>
                <a:lnTo>
                  <a:pt x="6322339" y="0"/>
                </a:lnTo>
                <a:lnTo>
                  <a:pt x="6322339" y="3712524"/>
                </a:lnTo>
                <a:lnTo>
                  <a:pt x="0" y="3712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25050" b="0"/>
            </a:stretch>
          </a:blipFill>
          <a:ln w="38100" cap="rnd">
            <a:solidFill>
              <a:srgbClr val="CD96C3"/>
            </a:solidFill>
            <a:prstDash val="solid"/>
            <a:round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75192" y="1663768"/>
            <a:ext cx="14137615" cy="7902394"/>
          </a:xfrm>
          <a:prstGeom prst="rect">
            <a:avLst/>
          </a:prstGeom>
          <a:ln w="38100" cap="rnd">
            <a:solidFill>
              <a:srgbClr val="CD96C3"/>
            </a:solidFill>
            <a:prstDash val="solid"/>
          </a:ln>
        </p:spPr>
      </p:pic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89" y="871434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2"/>
                </a:lnTo>
                <a:lnTo>
                  <a:pt x="0" y="185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718" y="1192292"/>
            <a:ext cx="13103514" cy="14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6"/>
              </a:lnSpc>
              <a:spcBef>
                <a:spcPct val="0"/>
              </a:spcBef>
            </a:pPr>
            <a:r>
              <a:rPr lang="en-US" sz="10556">
                <a:gradFill>
                  <a:gsLst>
                    <a:gs pos="0">
                      <a:srgbClr val="D188A9">
                        <a:alpha val="100000"/>
                      </a:srgbClr>
                    </a:gs>
                    <a:gs pos="100000">
                      <a:srgbClr val="58FFD7">
                        <a:alpha val="100000"/>
                      </a:srgbClr>
                    </a:gs>
                  </a:gsLst>
                  <a:lin ang="0"/>
                </a:gradFill>
                <a:latin typeface="Hammersmith One"/>
                <a:ea typeface="Hammersmith One"/>
                <a:cs typeface="Hammersmith One"/>
                <a:sym typeface="Hammersmith One"/>
              </a:rPr>
              <a:t>Referências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2565" y="0"/>
            <a:ext cx="17128558" cy="1434517"/>
          </a:xfrm>
          <a:custGeom>
            <a:avLst/>
            <a:gdLst/>
            <a:ahLst/>
            <a:cxnLst/>
            <a:rect r="r" b="b" t="t" l="l"/>
            <a:pathLst>
              <a:path h="1434517" w="17128558">
                <a:moveTo>
                  <a:pt x="0" y="0"/>
                </a:moveTo>
                <a:lnTo>
                  <a:pt x="17128558" y="0"/>
                </a:lnTo>
                <a:lnTo>
                  <a:pt x="17128558" y="1434517"/>
                </a:lnTo>
                <a:lnTo>
                  <a:pt x="0" y="14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405" y="887637"/>
            <a:ext cx="1853022" cy="1853022"/>
          </a:xfrm>
          <a:custGeom>
            <a:avLst/>
            <a:gdLst/>
            <a:ahLst/>
            <a:cxnLst/>
            <a:rect r="r" b="b" t="t" l="l"/>
            <a:pathLst>
              <a:path h="1853022" w="1853022">
                <a:moveTo>
                  <a:pt x="0" y="0"/>
                </a:moveTo>
                <a:lnTo>
                  <a:pt x="1853022" y="0"/>
                </a:lnTo>
                <a:lnTo>
                  <a:pt x="1853022" y="1853023"/>
                </a:lnTo>
                <a:lnTo>
                  <a:pt x="0" y="185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49390" y="2835033"/>
            <a:ext cx="11370171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70BFAD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MIRANDA, Maramélia. Números do AVC no Brasil e no mundo. Sociedade Brasileira de AVC (SBAVC), 2026. Disponível em: https://avc.org.br/sobre-a-sbavc/numeros-do-avc-no-brasil-e-no-mundo/. Acesso em: 25 abr. 2026.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9390" y="4697488"/>
            <a:ext cx="11370171" cy="1624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70BFAD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BRASIL. Ministério da Saúde. Acidente vascular cerebral. Biblioteca Virtual em Saúde. Brasília, DF. 2016. Disponível em: https://bvsms.saude.gov.br/acidente-vascular-cerebral/. Acesso em: 25 abr. 2026.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9066" y="6979550"/>
            <a:ext cx="2209700" cy="3090490"/>
          </a:xfrm>
          <a:custGeom>
            <a:avLst/>
            <a:gdLst/>
            <a:ahLst/>
            <a:cxnLst/>
            <a:rect r="r" b="b" t="t" l="l"/>
            <a:pathLst>
              <a:path h="3090490" w="2209700">
                <a:moveTo>
                  <a:pt x="0" y="0"/>
                </a:moveTo>
                <a:lnTo>
                  <a:pt x="2209700" y="0"/>
                </a:lnTo>
                <a:lnTo>
                  <a:pt x="2209700" y="3090490"/>
                </a:lnTo>
                <a:lnTo>
                  <a:pt x="0" y="3090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255560" y="8928287"/>
            <a:ext cx="4660214" cy="1141752"/>
          </a:xfrm>
          <a:custGeom>
            <a:avLst/>
            <a:gdLst/>
            <a:ahLst/>
            <a:cxnLst/>
            <a:rect r="r" b="b" t="t" l="l"/>
            <a:pathLst>
              <a:path h="1141752" w="4660214">
                <a:moveTo>
                  <a:pt x="0" y="0"/>
                </a:moveTo>
                <a:lnTo>
                  <a:pt x="4660214" y="0"/>
                </a:lnTo>
                <a:lnTo>
                  <a:pt x="4660214" y="1141753"/>
                </a:lnTo>
                <a:lnTo>
                  <a:pt x="0" y="1141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122273">
            <a:off x="16980753" y="8400062"/>
            <a:ext cx="1070371" cy="952630"/>
          </a:xfrm>
          <a:custGeom>
            <a:avLst/>
            <a:gdLst/>
            <a:ahLst/>
            <a:cxnLst/>
            <a:rect r="r" b="b" t="t" l="l"/>
            <a:pathLst>
              <a:path h="952630" w="1070371">
                <a:moveTo>
                  <a:pt x="1070371" y="0"/>
                </a:moveTo>
                <a:lnTo>
                  <a:pt x="0" y="0"/>
                </a:lnTo>
                <a:lnTo>
                  <a:pt x="0" y="952630"/>
                </a:lnTo>
                <a:lnTo>
                  <a:pt x="1070371" y="952630"/>
                </a:lnTo>
                <a:lnTo>
                  <a:pt x="10703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49086">
            <a:off x="1958507" y="8650497"/>
            <a:ext cx="1461966" cy="1293840"/>
          </a:xfrm>
          <a:custGeom>
            <a:avLst/>
            <a:gdLst/>
            <a:ahLst/>
            <a:cxnLst/>
            <a:rect r="r" b="b" t="t" l="l"/>
            <a:pathLst>
              <a:path h="1293840" w="1461966">
                <a:moveTo>
                  <a:pt x="0" y="0"/>
                </a:moveTo>
                <a:lnTo>
                  <a:pt x="1461967" y="0"/>
                </a:lnTo>
                <a:lnTo>
                  <a:pt x="1461967" y="1293840"/>
                </a:lnTo>
                <a:lnTo>
                  <a:pt x="0" y="12938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58915" y="6550286"/>
            <a:ext cx="11370171" cy="237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</a:pPr>
            <a:r>
              <a:rPr lang="en-US" sz="3100">
                <a:solidFill>
                  <a:srgbClr val="70BFAD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KOTSCHO, Ricardo. João Carlos Martins volta ao piano após um ano graças a luva biônica. Folha de S.Paulo, São Paulo, 19 jan. 2020. Disponível em: https://www1.folha.uol.com.br/cotidiano/2020/01/joao-carlos-martins-volta-ao-piano-apos-um-ano-gracas-a-luva-bionica.shtml. Acesso em: 16 set.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DAHVLQMmZXs</dc:identifier>
  <dcterms:modified xsi:type="dcterms:W3CDTF">2011-08-01T06:04:30Z</dcterms:modified>
  <cp:revision>1</cp:revision>
  <dc:title>Plataforma Musical para Reabilitação Motora - Visão Computacional e Arduino</dc:title>
</cp:coreProperties>
</file>